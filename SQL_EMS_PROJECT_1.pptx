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6"/>
  </p:notesMasterIdLst>
  <p:sldIdLst>
    <p:sldId id="256" r:id="rId2"/>
    <p:sldId id="258" r:id="rId3"/>
    <p:sldId id="260" r:id="rId4"/>
    <p:sldId id="261" r:id="rId5"/>
    <p:sldId id="262" r:id="rId6"/>
    <p:sldId id="263" r:id="rId7"/>
    <p:sldId id="264" r:id="rId8"/>
    <p:sldId id="265" r:id="rId9"/>
    <p:sldId id="266" r:id="rId10"/>
    <p:sldId id="267" r:id="rId11"/>
    <p:sldId id="268" r:id="rId12"/>
    <p:sldId id="269" r:id="rId13"/>
    <p:sldId id="270" r:id="rId14"/>
    <p:sldId id="271" r:id="rId15"/>
    <p:sldId id="272" r:id="rId16"/>
    <p:sldId id="273" r:id="rId17"/>
    <p:sldId id="274" r:id="rId18"/>
    <p:sldId id="275" r:id="rId19"/>
    <p:sldId id="276" r:id="rId20"/>
    <p:sldId id="277" r:id="rId21"/>
    <p:sldId id="278" r:id="rId22"/>
    <p:sldId id="279" r:id="rId23"/>
    <p:sldId id="280" r:id="rId24"/>
    <p:sldId id="259" r:id="rId25"/>
  </p:sldIdLst>
  <p:sldSz cx="12192000" cy="6858000"/>
  <p:notesSz cx="6858000" cy="9144000"/>
  <p:embeddedFontLst>
    <p:embeddedFont>
      <p:font typeface="Calibri" panose="020F0502020204030204" pitchFamily="34" charset="0"/>
      <p:regular r:id="rId27"/>
      <p:bold r:id="rId28"/>
      <p:italic r:id="rId29"/>
      <p:boldItalic r:id="rId3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4" roundtripDataSignature="AMtx7mi4HmEECUlll0m8HTY06QsqsmZGG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3690" autoAdjust="0"/>
  </p:normalViewPr>
  <p:slideViewPr>
    <p:cSldViewPr snapToGrid="0">
      <p:cViewPr varScale="1">
        <p:scale>
          <a:sx n="66" d="100"/>
          <a:sy n="66" d="100"/>
        </p:scale>
        <p:origin x="644" y="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34"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2.fntdata"/><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1.fntdata"/><Relationship Id="rId30" Type="http://schemas.openxmlformats.org/officeDocument/2006/relationships/font" Target="fonts/font4.fntdata"/><Relationship Id="rId35"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smtClean="0">
                <a:solidFill>
                  <a:schemeClr val="dk1"/>
                </a:solidFill>
                <a:latin typeface="Calibri"/>
                <a:ea typeface="Calibri"/>
                <a:cs typeface="Calibri"/>
                <a:sym typeface="Calibri"/>
              </a:rPr>
              <a:t>14</a:t>
            </a:fld>
            <a:endParaRPr lang="en-IN"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7299677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5"/>
        <p:cNvGrpSpPr/>
        <p:nvPr/>
      </p:nvGrpSpPr>
      <p:grpSpPr>
        <a:xfrm>
          <a:off x="0" y="0"/>
          <a:ext cx="0" cy="0"/>
          <a:chOff x="0" y="0"/>
          <a:chExt cx="0" cy="0"/>
        </a:xfrm>
      </p:grpSpPr>
      <p:sp>
        <p:nvSpPr>
          <p:cNvPr id="16" name="Google Shape;16;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0" name="Google Shape;20;p7"/>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1"/>
        <p:cNvGrpSpPr/>
        <p:nvPr/>
      </p:nvGrpSpPr>
      <p:grpSpPr>
        <a:xfrm>
          <a:off x="0" y="0"/>
          <a:ext cx="0" cy="0"/>
          <a:chOff x="0" y="0"/>
          <a:chExt cx="0" cy="0"/>
        </a:xfrm>
      </p:grpSpPr>
      <p:sp>
        <p:nvSpPr>
          <p:cNvPr id="22" name="Google Shape;2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5" name="Google Shape;25;p9"/>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6"/>
        <p:cNvGrpSpPr/>
        <p:nvPr/>
      </p:nvGrpSpPr>
      <p:grpSpPr>
        <a:xfrm>
          <a:off x="0" y="0"/>
          <a:ext cx="0" cy="0"/>
          <a:chOff x="0" y="0"/>
          <a:chExt cx="0" cy="0"/>
        </a:xfrm>
      </p:grpSpPr>
      <p:sp>
        <p:nvSpPr>
          <p:cNvPr id="27" name="Google Shape;27;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 name="Google Shape;29;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2" name="Google Shape;32;p10"/>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3"/>
        <p:cNvGrpSpPr/>
        <p:nvPr/>
      </p:nvGrpSpPr>
      <p:grpSpPr>
        <a:xfrm>
          <a:off x="0" y="0"/>
          <a:ext cx="0" cy="0"/>
          <a:chOff x="0" y="0"/>
          <a:chExt cx="0" cy="0"/>
        </a:xfrm>
      </p:grpSpPr>
      <p:sp>
        <p:nvSpPr>
          <p:cNvPr id="34" name="Google Shape;34;p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6" name="Google Shape;36;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9" name="Google Shape;39;p8"/>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3" name="Google Shape;43;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46" name="Google Shape;46;p11"/>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7"/>
        <p:cNvGrpSpPr/>
        <p:nvPr/>
      </p:nvGrpSpPr>
      <p:grpSpPr>
        <a:xfrm>
          <a:off x="0" y="0"/>
          <a:ext cx="0" cy="0"/>
          <a:chOff x="0" y="0"/>
          <a:chExt cx="0" cy="0"/>
        </a:xfrm>
      </p:grpSpPr>
      <p:sp>
        <p:nvSpPr>
          <p:cNvPr id="48" name="Google Shape;48;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1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1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54" name="Google Shape;54;p12"/>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5"/>
        <p:cNvGrpSpPr/>
        <p:nvPr/>
      </p:nvGrpSpPr>
      <p:grpSpPr>
        <a:xfrm>
          <a:off x="0" y="0"/>
          <a:ext cx="0" cy="0"/>
          <a:chOff x="0" y="0"/>
          <a:chExt cx="0" cy="0"/>
        </a:xfrm>
      </p:grpSpPr>
      <p:sp>
        <p:nvSpPr>
          <p:cNvPr id="56" name="Google Shape;56;p1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1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8" name="Google Shape;58;p1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1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0" name="Google Shape;60;p1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64" name="Google Shape;64;p13"/>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5"/>
        <p:cNvGrpSpPr/>
        <p:nvPr/>
      </p:nvGrpSpPr>
      <p:grpSpPr>
        <a:xfrm>
          <a:off x="0" y="0"/>
          <a:ext cx="0" cy="0"/>
          <a:chOff x="0" y="0"/>
          <a:chExt cx="0" cy="0"/>
        </a:xfrm>
      </p:grpSpPr>
      <p:sp>
        <p:nvSpPr>
          <p:cNvPr id="66" name="Google Shape;66;p1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8" name="Google Shape;68;p1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72" name="Google Shape;72;p14"/>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15"/>
          <p:cNvSpPr>
            <a:spLocks noGrp="1"/>
          </p:cNvSpPr>
          <p:nvPr>
            <p:ph type="pic" idx="2"/>
          </p:nvPr>
        </p:nvSpPr>
        <p:spPr>
          <a:xfrm>
            <a:off x="5183188" y="987425"/>
            <a:ext cx="6172200" cy="4873625"/>
          </a:xfrm>
          <a:prstGeom prst="rect">
            <a:avLst/>
          </a:prstGeom>
          <a:noFill/>
          <a:ln>
            <a:noFill/>
          </a:ln>
        </p:spPr>
      </p:sp>
      <p:sp>
        <p:nvSpPr>
          <p:cNvPr id="76" name="Google Shape;76;p1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7" name="Google Shape;7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0" name="Google Shape;80;p15"/>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1"/>
        <p:cNvGrpSpPr/>
        <p:nvPr/>
      </p:nvGrpSpPr>
      <p:grpSpPr>
        <a:xfrm>
          <a:off x="0" y="0"/>
          <a:ext cx="0" cy="0"/>
          <a:chOff x="0" y="0"/>
          <a:chExt cx="0" cy="0"/>
        </a:xfrm>
      </p:grpSpPr>
      <p:sp>
        <p:nvSpPr>
          <p:cNvPr id="82" name="Google Shape;82;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7" name="Google Shape;87;p16"/>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8"/>
        <p:cNvGrpSpPr/>
        <p:nvPr/>
      </p:nvGrpSpPr>
      <p:grpSpPr>
        <a:xfrm>
          <a:off x="0" y="0"/>
          <a:ext cx="0" cy="0"/>
          <a:chOff x="0" y="0"/>
          <a:chExt cx="0" cy="0"/>
        </a:xfrm>
      </p:grpSpPr>
      <p:sp>
        <p:nvSpPr>
          <p:cNvPr id="89" name="Google Shape;89;p1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p1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3" name="Google Shape;9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jpeg"/><Relationship Id="rId1" Type="http://schemas.openxmlformats.org/officeDocument/2006/relationships/slideLayout" Target="../slideLayouts/slideLayout1.xml"/><Relationship Id="rId5" Type="http://schemas.openxmlformats.org/officeDocument/2006/relationships/image" Target="../media/image7.jpeg"/><Relationship Id="rId4" Type="http://schemas.openxmlformats.org/officeDocument/2006/relationships/image" Target="../media/image6.jpe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jpeg"/><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3.jpeg"/><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3.jpeg"/><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3.jpeg"/><Relationship Id="rId1" Type="http://schemas.openxmlformats.org/officeDocument/2006/relationships/slideLayout" Target="../slideLayouts/slideLayout1.xml"/><Relationship Id="rId4" Type="http://schemas.openxmlformats.org/officeDocument/2006/relationships/image" Target="../media/image18.jpeg"/></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3.jpeg"/><Relationship Id="rId1" Type="http://schemas.openxmlformats.org/officeDocument/2006/relationships/slideLayout" Target="../slideLayouts/slideLayout1.xml"/><Relationship Id="rId4" Type="http://schemas.openxmlformats.org/officeDocument/2006/relationships/image" Target="../media/image20.jpeg"/></Relationships>
</file>

<file path=ppt/slides/_rels/slide1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22.jpeg"/><Relationship Id="rId4" Type="http://schemas.openxmlformats.org/officeDocument/2006/relationships/image" Target="../media/image21.jpeg"/></Relationships>
</file>

<file path=ppt/slides/_rels/slide15.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3.jpeg"/><Relationship Id="rId1" Type="http://schemas.openxmlformats.org/officeDocument/2006/relationships/slideLayout" Target="../slideLayouts/slideLayout1.xml"/><Relationship Id="rId4" Type="http://schemas.openxmlformats.org/officeDocument/2006/relationships/image" Target="../media/image25.jpeg"/></Relationships>
</file>

<file path=ppt/slides/_rels/slide17.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3.jpeg"/><Relationship Id="rId1" Type="http://schemas.openxmlformats.org/officeDocument/2006/relationships/slideLayout" Target="../slideLayouts/slideLayout1.xml"/><Relationship Id="rId4" Type="http://schemas.openxmlformats.org/officeDocument/2006/relationships/image" Target="../media/image27.jpeg"/></Relationships>
</file>

<file path=ppt/slides/_rels/slide18.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3.jpeg"/><Relationship Id="rId1" Type="http://schemas.openxmlformats.org/officeDocument/2006/relationships/slideLayout" Target="../slideLayouts/slideLayout1.xml"/><Relationship Id="rId4" Type="http://schemas.openxmlformats.org/officeDocument/2006/relationships/image" Target="../media/image30.png"/></Relationships>
</file>

<file path=ppt/slides/_rels/slide2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jpeg"/><Relationship Id="rId1" Type="http://schemas.openxmlformats.org/officeDocument/2006/relationships/slideLayout" Target="../slideLayouts/slideLayout1.xml"/><Relationship Id="rId4" Type="http://schemas.openxmlformats.org/officeDocument/2006/relationships/image" Target="../media/image32.png"/></Relationships>
</file>

<file path=ppt/slides/_rels/slide2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3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1"/>
          <p:cNvPicPr preferRelativeResize="0"/>
          <p:nvPr/>
        </p:nvPicPr>
        <p:blipFill rotWithShape="1">
          <a:blip r:embed="rId3">
            <a:alphaModFix/>
          </a:blip>
          <a:srcRect/>
          <a:stretch/>
        </p:blipFill>
        <p:spPr>
          <a:xfrm>
            <a:off x="0" y="18889"/>
            <a:ext cx="12190815" cy="6694098"/>
          </a:xfrm>
          <a:prstGeom prst="rect">
            <a:avLst/>
          </a:prstGeom>
          <a:noFill/>
          <a:ln>
            <a:noFill/>
          </a:ln>
        </p:spPr>
      </p:pic>
      <p:sp>
        <p:nvSpPr>
          <p:cNvPr id="99" name="Google Shape;99;p1"/>
          <p:cNvSpPr txBox="1"/>
          <p:nvPr/>
        </p:nvSpPr>
        <p:spPr>
          <a:xfrm>
            <a:off x="2325759" y="3429000"/>
            <a:ext cx="8321220" cy="98484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br>
              <a:rPr lang="en-IN" sz="1800" b="0" i="0" u="none" strike="noStrike" cap="none" dirty="0">
                <a:solidFill>
                  <a:schemeClr val="dk1"/>
                </a:solidFill>
                <a:latin typeface="Calibri"/>
                <a:ea typeface="Calibri"/>
                <a:cs typeface="Calibri"/>
                <a:sym typeface="Calibri"/>
              </a:rPr>
            </a:br>
            <a:r>
              <a:rPr lang="en-IN" sz="4000" b="1" i="0" u="none" strike="noStrike" cap="none" dirty="0">
                <a:solidFill>
                  <a:schemeClr val="accent1">
                    <a:lumMod val="50000"/>
                  </a:schemeClr>
                </a:solidFill>
                <a:latin typeface="Calibri"/>
                <a:ea typeface="Calibri"/>
                <a:cs typeface="Calibri"/>
                <a:sym typeface="Calibri"/>
              </a:rPr>
              <a:t>EMPLOYEE MANAGEMENT SYSTEM</a:t>
            </a:r>
            <a:endParaRPr sz="4000" b="1" i="0" u="none" strike="noStrike" cap="none" dirty="0">
              <a:solidFill>
                <a:schemeClr val="accent1">
                  <a:lumMod val="50000"/>
                </a:schemeClr>
              </a:solidFill>
              <a:latin typeface="Arial"/>
              <a:ea typeface="Arial"/>
              <a:cs typeface="Arial"/>
              <a:sym typeface="Arial"/>
            </a:endParaRPr>
          </a:p>
        </p:txBody>
      </p:sp>
      <p:pic>
        <p:nvPicPr>
          <p:cNvPr id="4" name="Picture 2" descr="🔥 People Business PowerPoint Background Download | CBEditz">
            <a:extLst>
              <a:ext uri="{FF2B5EF4-FFF2-40B4-BE49-F238E27FC236}">
                <a16:creationId xmlns:a16="http://schemas.microsoft.com/office/drawing/2014/main" id="{A45A4F74-44D8-47D0-8612-02BE24636392}"/>
              </a:ext>
            </a:extLst>
          </p:cNvPr>
          <p:cNvPicPr>
            <a:picLocks noChangeAspect="1" noChangeArrowheads="1"/>
          </p:cNvPicPr>
          <p:nvPr/>
        </p:nvPicPr>
        <p:blipFill>
          <a:blip r:embed="rId4">
            <a:alphaModFix amt="22000"/>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pic>
        <p:nvPicPr>
          <p:cNvPr id="2" name="Picture 1">
            <a:extLst>
              <a:ext uri="{FF2B5EF4-FFF2-40B4-BE49-F238E27FC236}">
                <a16:creationId xmlns:a16="http://schemas.microsoft.com/office/drawing/2014/main" id="{D3D8082C-71E1-4170-83F3-6EDD4A9AA9E2}"/>
              </a:ext>
            </a:extLst>
          </p:cNvPr>
          <p:cNvPicPr>
            <a:picLocks noChangeAspect="1"/>
          </p:cNvPicPr>
          <p:nvPr/>
        </p:nvPicPr>
        <p:blipFill>
          <a:blip r:embed="rId3"/>
          <a:stretch>
            <a:fillRect/>
          </a:stretch>
        </p:blipFill>
        <p:spPr>
          <a:xfrm>
            <a:off x="0" y="0"/>
            <a:ext cx="12192000" cy="6857999"/>
          </a:xfrm>
          <a:prstGeom prst="rect">
            <a:avLst/>
          </a:prstGeom>
        </p:spPr>
      </p:pic>
      <p:sp>
        <p:nvSpPr>
          <p:cNvPr id="110" name="Google Shape;110;p4"/>
          <p:cNvSpPr txBox="1">
            <a:spLocks noGrp="1"/>
          </p:cNvSpPr>
          <p:nvPr>
            <p:ph type="title"/>
          </p:nvPr>
        </p:nvSpPr>
        <p:spPr>
          <a:xfrm>
            <a:off x="208472" y="1825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0000"/>
              </a:buClr>
              <a:buSzPts val="4400"/>
              <a:buFont typeface="Calibri"/>
              <a:buNone/>
            </a:pPr>
            <a:r>
              <a:rPr lang="en-IN" b="1" dirty="0">
                <a:solidFill>
                  <a:srgbClr val="FF0000"/>
                </a:solidFill>
              </a:rPr>
              <a:t>INTRODCUTION</a:t>
            </a:r>
            <a:endParaRPr b="1" dirty="0">
              <a:solidFill>
                <a:srgbClr val="FF0000"/>
              </a:solidFill>
            </a:endParaRPr>
          </a:p>
        </p:txBody>
      </p:sp>
      <p:sp>
        <p:nvSpPr>
          <p:cNvPr id="111" name="Google Shape;111;p4"/>
          <p:cNvSpPr txBox="1">
            <a:spLocks noGrp="1"/>
          </p:cNvSpPr>
          <p:nvPr>
            <p:ph type="body" idx="1"/>
          </p:nvPr>
        </p:nvSpPr>
        <p:spPr>
          <a:xfrm>
            <a:off x="884575" y="1177823"/>
            <a:ext cx="10687313" cy="5065321"/>
          </a:xfrm>
          <a:prstGeom prst="rect">
            <a:avLst/>
          </a:prstGeom>
          <a:noFill/>
          <a:ln>
            <a:noFill/>
          </a:ln>
        </p:spPr>
        <p:txBody>
          <a:bodyPr spcFirstLastPara="1" wrap="square" lIns="91425" tIns="45700" rIns="91425" bIns="45700" anchor="t" anchorCtr="0">
            <a:normAutofit/>
          </a:bodyPr>
          <a:lstStyle/>
          <a:p>
            <a:pPr marL="25400" lvl="0" indent="0" algn="l" rtl="0">
              <a:lnSpc>
                <a:spcPct val="90000"/>
              </a:lnSpc>
              <a:spcBef>
                <a:spcPts val="1000"/>
              </a:spcBef>
              <a:spcAft>
                <a:spcPts val="0"/>
              </a:spcAft>
              <a:buSzPts val="2400"/>
              <a:buNone/>
            </a:pPr>
            <a:r>
              <a:rPr lang="en-US" sz="2000" dirty="0">
                <a:latin typeface="Times New Roman" panose="02020603050405020304" pitchFamily="18" charset="0"/>
                <a:cs typeface="Times New Roman" panose="02020603050405020304" pitchFamily="18" charset="0"/>
              </a:rPr>
              <a:t>The Employee Management System (EMS) is designed to streamline the management of employee data, job roles, and departmental information within an organization. This system allows for efficient tracking of employee details, job assignments, qualifications, and performance metrics. </a:t>
            </a:r>
          </a:p>
          <a:p>
            <a:pPr marL="25400" lvl="0" indent="0" algn="l" rtl="0">
              <a:lnSpc>
                <a:spcPct val="90000"/>
              </a:lnSpc>
              <a:spcBef>
                <a:spcPts val="1000"/>
              </a:spcBef>
              <a:spcAft>
                <a:spcPts val="0"/>
              </a:spcAft>
              <a:buSzPts val="2400"/>
              <a:buNone/>
            </a:pPr>
            <a:r>
              <a:rPr lang="en-US" sz="2000" b="1" dirty="0">
                <a:latin typeface="Times New Roman" panose="02020603050405020304" pitchFamily="18" charset="0"/>
                <a:cs typeface="Times New Roman" panose="02020603050405020304" pitchFamily="18" charset="0"/>
              </a:rPr>
              <a:t>Key domain knowledge elements for this system include :</a:t>
            </a:r>
          </a:p>
          <a:p>
            <a:pPr marL="368300">
              <a:buSzPts val="2400"/>
            </a:pPr>
            <a:r>
              <a:rPr lang="en-US" sz="2000" dirty="0">
                <a:latin typeface="Times New Roman" panose="02020603050405020304" pitchFamily="18" charset="0"/>
                <a:cs typeface="Times New Roman" panose="02020603050405020304" pitchFamily="18" charset="0"/>
              </a:rPr>
              <a:t>Employee Information Management</a:t>
            </a:r>
          </a:p>
          <a:p>
            <a:pPr marL="368300">
              <a:buSzPts val="2400"/>
            </a:pPr>
            <a:r>
              <a:rPr lang="en-US" sz="2000" dirty="0">
                <a:latin typeface="Times New Roman" panose="02020603050405020304" pitchFamily="18" charset="0"/>
                <a:cs typeface="Times New Roman" panose="02020603050405020304" pitchFamily="18" charset="0"/>
              </a:rPr>
              <a:t>Job Role Assignment</a:t>
            </a:r>
          </a:p>
          <a:p>
            <a:pPr marL="368300">
              <a:buSzPts val="2400"/>
            </a:pPr>
            <a:r>
              <a:rPr lang="en-US" sz="2000" dirty="0">
                <a:latin typeface="Times New Roman" panose="02020603050405020304" pitchFamily="18" charset="0"/>
                <a:cs typeface="Times New Roman" panose="02020603050405020304" pitchFamily="18" charset="0"/>
              </a:rPr>
              <a:t>Departmental Structure</a:t>
            </a:r>
          </a:p>
          <a:p>
            <a:pPr marL="368300">
              <a:buSzPts val="2400"/>
            </a:pPr>
            <a:r>
              <a:rPr lang="en-US" sz="2000" dirty="0">
                <a:latin typeface="Times New Roman" panose="02020603050405020304" pitchFamily="18" charset="0"/>
                <a:cs typeface="Times New Roman" panose="02020603050405020304" pitchFamily="18" charset="0"/>
              </a:rPr>
              <a:t>Payroll and Compensation</a:t>
            </a:r>
          </a:p>
          <a:p>
            <a:pPr marL="368300">
              <a:buSzPts val="2400"/>
            </a:pPr>
            <a:r>
              <a:rPr lang="en-US" sz="2000" dirty="0">
                <a:latin typeface="Times New Roman" panose="02020603050405020304" pitchFamily="18" charset="0"/>
                <a:cs typeface="Times New Roman" panose="02020603050405020304" pitchFamily="18" charset="0"/>
              </a:rPr>
              <a:t>Qualifications and Skills Tracking</a:t>
            </a:r>
          </a:p>
          <a:p>
            <a:pPr marL="368300">
              <a:buSzPts val="2400"/>
            </a:pPr>
            <a:r>
              <a:rPr lang="en-US" sz="2000" dirty="0">
                <a:latin typeface="Times New Roman" panose="02020603050405020304" pitchFamily="18" charset="0"/>
                <a:cs typeface="Times New Roman" panose="02020603050405020304" pitchFamily="18" charset="0"/>
              </a:rPr>
              <a:t>Leave and Absence Management</a:t>
            </a:r>
          </a:p>
          <a:p>
            <a:pPr marL="25400" lvl="0" indent="0" algn="l" rtl="0">
              <a:lnSpc>
                <a:spcPct val="90000"/>
              </a:lnSpc>
              <a:spcBef>
                <a:spcPts val="1000"/>
              </a:spcBef>
              <a:spcAft>
                <a:spcPts val="0"/>
              </a:spcAft>
              <a:buSzPts val="2400"/>
              <a:buNone/>
            </a:pPr>
            <a:r>
              <a:rPr lang="en-US" sz="2000" dirty="0">
                <a:latin typeface="Times New Roman" panose="02020603050405020304" pitchFamily="18" charset="0"/>
                <a:cs typeface="Times New Roman" panose="02020603050405020304" pitchFamily="18" charset="0"/>
              </a:rPr>
              <a:t>This system ensures that all employee-related information is stored securely, easily accessible for reporting, and aligned with organizational goals for performance, compensation, and growth.</a:t>
            </a:r>
            <a:endParaRPr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8D47EA9-1095-4429-8FCF-66464EFF1ED4}"/>
              </a:ext>
            </a:extLst>
          </p:cNvPr>
          <p:cNvPicPr>
            <a:picLocks noChangeAspect="1"/>
          </p:cNvPicPr>
          <p:nvPr/>
        </p:nvPicPr>
        <p:blipFill>
          <a:blip r:embed="rId2"/>
          <a:stretch>
            <a:fillRect/>
          </a:stretch>
        </p:blipFill>
        <p:spPr>
          <a:xfrm>
            <a:off x="0" y="0"/>
            <a:ext cx="12192000" cy="6857999"/>
          </a:xfrm>
          <a:prstGeom prst="rect">
            <a:avLst/>
          </a:prstGeom>
        </p:spPr>
      </p:pic>
      <p:sp>
        <p:nvSpPr>
          <p:cNvPr id="2" name="Title 1">
            <a:extLst>
              <a:ext uri="{FF2B5EF4-FFF2-40B4-BE49-F238E27FC236}">
                <a16:creationId xmlns:a16="http://schemas.microsoft.com/office/drawing/2014/main" id="{4229C29A-902A-47B0-8D1D-14FEC7EAEFBF}"/>
              </a:ext>
            </a:extLst>
          </p:cNvPr>
          <p:cNvSpPr>
            <a:spLocks noGrp="1"/>
          </p:cNvSpPr>
          <p:nvPr>
            <p:ph type="title"/>
          </p:nvPr>
        </p:nvSpPr>
        <p:spPr>
          <a:xfrm>
            <a:off x="176049" y="18255"/>
            <a:ext cx="10515600" cy="1325563"/>
          </a:xfrm>
        </p:spPr>
        <p:txBody>
          <a:bodyPr/>
          <a:lstStyle/>
          <a:p>
            <a:r>
              <a:rPr lang="en-US" b="1" dirty="0">
                <a:solidFill>
                  <a:srgbClr val="FF0000"/>
                </a:solidFill>
              </a:rPr>
              <a:t>PROBLEM STATEMENT</a:t>
            </a:r>
          </a:p>
        </p:txBody>
      </p:sp>
      <p:sp>
        <p:nvSpPr>
          <p:cNvPr id="3" name="Text Placeholder 2">
            <a:extLst>
              <a:ext uri="{FF2B5EF4-FFF2-40B4-BE49-F238E27FC236}">
                <a16:creationId xmlns:a16="http://schemas.microsoft.com/office/drawing/2014/main" id="{F5A67E8C-C951-4F8A-BF2E-BDB4FB833CB0}"/>
              </a:ext>
            </a:extLst>
          </p:cNvPr>
          <p:cNvSpPr>
            <a:spLocks noGrp="1"/>
          </p:cNvSpPr>
          <p:nvPr>
            <p:ph type="body" idx="1"/>
          </p:nvPr>
        </p:nvSpPr>
        <p:spPr>
          <a:xfrm>
            <a:off x="838200" y="1253331"/>
            <a:ext cx="10515600" cy="4351338"/>
          </a:xfrm>
        </p:spPr>
        <p:txBody>
          <a:bodyPr>
            <a:normAutofit/>
          </a:bodyPr>
          <a:lstStyle/>
          <a:p>
            <a:r>
              <a:rPr lang="en-US" sz="2200" dirty="0">
                <a:latin typeface="Times New Roman" panose="02020603050405020304" pitchFamily="18" charset="0"/>
                <a:cs typeface="Times New Roman" panose="02020603050405020304" pitchFamily="18" charset="0"/>
              </a:rPr>
              <a:t>The objective of this project is to design and implement an Employee Management System that efficiently stores and manages employee-related data within an organization. The system needs to track various aspects of employee information, including personal details, job roles, salary structures, qualifications, leave records, and payroll data. </a:t>
            </a:r>
          </a:p>
          <a:p>
            <a:endParaRPr lang="en-US" sz="2200" dirty="0">
              <a:latin typeface="Times New Roman" panose="02020603050405020304" pitchFamily="18" charset="0"/>
              <a:cs typeface="Times New Roman" panose="02020603050405020304" pitchFamily="18" charset="0"/>
            </a:endParaRPr>
          </a:p>
          <a:p>
            <a:r>
              <a:rPr lang="en-US" sz="2200" dirty="0">
                <a:latin typeface="Times New Roman" panose="02020603050405020304" pitchFamily="18" charset="0"/>
                <a:cs typeface="Times New Roman" panose="02020603050405020304" pitchFamily="18" charset="0"/>
              </a:rPr>
              <a:t>The system should ensure the integrity and consistency of data by using relational tables with appropriate foreign keys and cascading actions. The system should allow for easy management and querying of employee data, providing insights such as payroll calculation, leave tracking, and department-specific job roles. The goal is to streamline HR operations, ensuring that all relevant employee data is accessible and accurately updated across different modules.</a:t>
            </a:r>
          </a:p>
        </p:txBody>
      </p:sp>
    </p:spTree>
    <p:extLst>
      <p:ext uri="{BB962C8B-B14F-4D97-AF65-F5344CB8AC3E}">
        <p14:creationId xmlns:p14="http://schemas.microsoft.com/office/powerpoint/2010/main" val="14675841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4A903E4-7AC4-4F60-9CD3-544A91F03A1E}"/>
              </a:ext>
            </a:extLst>
          </p:cNvPr>
          <p:cNvPicPr>
            <a:picLocks noChangeAspect="1"/>
          </p:cNvPicPr>
          <p:nvPr/>
        </p:nvPicPr>
        <p:blipFill>
          <a:blip r:embed="rId2"/>
          <a:stretch>
            <a:fillRect/>
          </a:stretch>
        </p:blipFill>
        <p:spPr>
          <a:xfrm>
            <a:off x="0" y="0"/>
            <a:ext cx="12192000" cy="6857999"/>
          </a:xfrm>
          <a:prstGeom prst="rect">
            <a:avLst/>
          </a:prstGeom>
        </p:spPr>
      </p:pic>
      <p:sp>
        <p:nvSpPr>
          <p:cNvPr id="2" name="Title 1">
            <a:extLst>
              <a:ext uri="{FF2B5EF4-FFF2-40B4-BE49-F238E27FC236}">
                <a16:creationId xmlns:a16="http://schemas.microsoft.com/office/drawing/2014/main" id="{8D7E5CF4-1765-44B4-80F9-80BF8F4943CB}"/>
              </a:ext>
            </a:extLst>
          </p:cNvPr>
          <p:cNvSpPr>
            <a:spLocks noGrp="1"/>
          </p:cNvSpPr>
          <p:nvPr>
            <p:ph type="title"/>
          </p:nvPr>
        </p:nvSpPr>
        <p:spPr>
          <a:xfrm>
            <a:off x="228600" y="91856"/>
            <a:ext cx="10515600" cy="1325563"/>
          </a:xfrm>
        </p:spPr>
        <p:txBody>
          <a:bodyPr/>
          <a:lstStyle/>
          <a:p>
            <a:r>
              <a:rPr lang="en-US" b="1" dirty="0">
                <a:solidFill>
                  <a:srgbClr val="FF0000"/>
                </a:solidFill>
              </a:rPr>
              <a:t>OBJECTIVE</a:t>
            </a:r>
          </a:p>
        </p:txBody>
      </p:sp>
      <p:sp>
        <p:nvSpPr>
          <p:cNvPr id="3" name="Text Placeholder 2">
            <a:extLst>
              <a:ext uri="{FF2B5EF4-FFF2-40B4-BE49-F238E27FC236}">
                <a16:creationId xmlns:a16="http://schemas.microsoft.com/office/drawing/2014/main" id="{0092B1A6-B6EA-47E9-80B7-6DB85E01A3B4}"/>
              </a:ext>
            </a:extLst>
          </p:cNvPr>
          <p:cNvSpPr>
            <a:spLocks noGrp="1"/>
          </p:cNvSpPr>
          <p:nvPr>
            <p:ph type="body" idx="1"/>
          </p:nvPr>
        </p:nvSpPr>
        <p:spPr>
          <a:xfrm>
            <a:off x="838200" y="1331639"/>
            <a:ext cx="10515600" cy="4351338"/>
          </a:xfrm>
        </p:spPr>
        <p:txBody>
          <a:bodyPr>
            <a:normAutofit fontScale="92500" lnSpcReduction="10000"/>
          </a:bodyPr>
          <a:lstStyle/>
          <a:p>
            <a:r>
              <a:rPr lang="en-US" dirty="0"/>
              <a:t>The objective of the Employee Management System using SQL is to design and implement a relational database that efficiently stores, manages, and retrieves employee-related information. </a:t>
            </a:r>
          </a:p>
          <a:p>
            <a:r>
              <a:rPr lang="en-US" dirty="0"/>
              <a:t>The system </a:t>
            </a:r>
            <a:r>
              <a:rPr lang="en-US" dirty="0">
                <a:latin typeface="Times New Roman" panose="02020603050405020304" pitchFamily="18" charset="0"/>
                <a:cs typeface="Times New Roman" panose="02020603050405020304" pitchFamily="18" charset="0"/>
              </a:rPr>
              <a:t>uses</a:t>
            </a:r>
            <a:r>
              <a:rPr lang="en-US" dirty="0"/>
              <a:t> SQL tables and queries to maintain employee details, job roles, departments, payroll information, qualifications, and leave records. </a:t>
            </a:r>
          </a:p>
          <a:p>
            <a:r>
              <a:rPr lang="en-US" dirty="0"/>
              <a:t>It ensures data integrity through primary and foreign keys, enables quick data access using SQL queries, and supports effective decision-making by generating reports related to employee performance, salaries, and departmental activities. </a:t>
            </a:r>
          </a:p>
          <a:p>
            <a:r>
              <a:rPr lang="en-US" dirty="0"/>
              <a:t>This system helps organizations manage employee data in a structured, secure, and efficient manner.</a:t>
            </a:r>
          </a:p>
        </p:txBody>
      </p:sp>
    </p:spTree>
    <p:extLst>
      <p:ext uri="{BB962C8B-B14F-4D97-AF65-F5344CB8AC3E}">
        <p14:creationId xmlns:p14="http://schemas.microsoft.com/office/powerpoint/2010/main" val="15278362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2" descr="🔥 People Business PowerPoint Background Download | CBEditz">
            <a:extLst>
              <a:ext uri="{FF2B5EF4-FFF2-40B4-BE49-F238E27FC236}">
                <a16:creationId xmlns:a16="http://schemas.microsoft.com/office/drawing/2014/main" id="{B701F365-6174-45EE-8567-8911AF677F6A}"/>
              </a:ext>
            </a:extLst>
          </p:cNvPr>
          <p:cNvPicPr>
            <a:picLocks noChangeAspect="1" noChangeArrowheads="1"/>
          </p:cNvPicPr>
          <p:nvPr/>
        </p:nvPicPr>
        <p:blipFill>
          <a:blip r:embed="rId2">
            <a:alphaModFix amt="22000"/>
            <a:extLst>
              <a:ext uri="{28A0092B-C50C-407E-A947-70E740481C1C}">
                <a14:useLocalDpi xmlns:a14="http://schemas.microsoft.com/office/drawing/2010/main" val="0"/>
              </a:ext>
            </a:extLst>
          </a:blip>
          <a:srcRect/>
          <a:stretch>
            <a:fillRect/>
          </a:stretch>
        </p:blipFill>
        <p:spPr bwMode="auto">
          <a:xfrm>
            <a:off x="0" y="1"/>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Google Shape;110;p4">
            <a:extLst>
              <a:ext uri="{FF2B5EF4-FFF2-40B4-BE49-F238E27FC236}">
                <a16:creationId xmlns:a16="http://schemas.microsoft.com/office/drawing/2014/main" id="{76CCF1C3-A0F0-440D-A090-12D6979DF875}"/>
              </a:ext>
            </a:extLst>
          </p:cNvPr>
          <p:cNvSpPr txBox="1">
            <a:spLocks noGrp="1"/>
          </p:cNvSpPr>
          <p:nvPr>
            <p:ph type="title"/>
          </p:nvPr>
        </p:nvSpPr>
        <p:spPr>
          <a:xfrm>
            <a:off x="323193" y="0"/>
            <a:ext cx="10515600" cy="1325563"/>
          </a:xfrm>
          <a:prstGeom prst="rect">
            <a:avLst/>
          </a:prstGeom>
          <a:noFill/>
          <a:ln>
            <a:noFill/>
          </a:ln>
        </p:spPr>
        <p:txBody>
          <a:bodyPr spcFirstLastPara="1" wrap="square" lIns="91425" tIns="45700" rIns="91425" bIns="45700" anchor="ctr" anchorCtr="0">
            <a:normAutofit/>
          </a:bodyPr>
          <a:lstStyle/>
          <a:p>
            <a:pPr marL="0" lvl="0" indent="0" rtl="0">
              <a:lnSpc>
                <a:spcPct val="100000"/>
              </a:lnSpc>
              <a:spcBef>
                <a:spcPts val="0"/>
              </a:spcBef>
              <a:spcAft>
                <a:spcPts val="0"/>
              </a:spcAft>
              <a:buClr>
                <a:srgbClr val="FF0000"/>
              </a:buClr>
              <a:buSzPts val="4400"/>
              <a:buFont typeface="Calibri"/>
              <a:buNone/>
            </a:pPr>
            <a:r>
              <a:rPr lang="en-US" b="1" dirty="0">
                <a:solidFill>
                  <a:srgbClr val="FF0000"/>
                </a:solidFill>
                <a:latin typeface="Times New Roman" panose="02020603050405020304" pitchFamily="18" charset="0"/>
                <a:cs typeface="Times New Roman" panose="02020603050405020304" pitchFamily="18" charset="0"/>
              </a:rPr>
              <a:t>TABLES</a:t>
            </a:r>
            <a:endParaRPr b="1" dirty="0">
              <a:solidFill>
                <a:srgbClr val="FF0000"/>
              </a:solidFill>
              <a:latin typeface="Times New Roman" panose="02020603050405020304" pitchFamily="18" charset="0"/>
              <a:cs typeface="Times New Roman" panose="02020603050405020304" pitchFamily="18" charset="0"/>
            </a:endParaRPr>
          </a:p>
        </p:txBody>
      </p:sp>
      <p:graphicFrame>
        <p:nvGraphicFramePr>
          <p:cNvPr id="6" name="Table 6">
            <a:extLst>
              <a:ext uri="{FF2B5EF4-FFF2-40B4-BE49-F238E27FC236}">
                <a16:creationId xmlns:a16="http://schemas.microsoft.com/office/drawing/2014/main" id="{B86F8E36-6E4A-4DE2-A5C5-1207F47F1E34}"/>
              </a:ext>
            </a:extLst>
          </p:cNvPr>
          <p:cNvGraphicFramePr>
            <a:graphicFrameLocks noGrp="1"/>
          </p:cNvGraphicFramePr>
          <p:nvPr>
            <p:extLst>
              <p:ext uri="{D42A27DB-BD31-4B8C-83A1-F6EECF244321}">
                <p14:modId xmlns:p14="http://schemas.microsoft.com/office/powerpoint/2010/main" val="2671804507"/>
              </p:ext>
            </p:extLst>
          </p:nvPr>
        </p:nvGraphicFramePr>
        <p:xfrm>
          <a:off x="2032000" y="1844798"/>
          <a:ext cx="8128000" cy="3168403"/>
        </p:xfrm>
        <a:graphic>
          <a:graphicData uri="http://schemas.openxmlformats.org/drawingml/2006/table">
            <a:tbl>
              <a:tblPr firstRow="1" bandRow="1">
                <a:tableStyleId>{5C22544A-7EE6-4342-B048-85BDC9FD1C3A}</a:tableStyleId>
              </a:tblPr>
              <a:tblGrid>
                <a:gridCol w="8128000">
                  <a:extLst>
                    <a:ext uri="{9D8B030D-6E8A-4147-A177-3AD203B41FA5}">
                      <a16:colId xmlns:a16="http://schemas.microsoft.com/office/drawing/2014/main" val="2265159763"/>
                    </a:ext>
                  </a:extLst>
                </a:gridCol>
              </a:tblGrid>
              <a:tr h="452629">
                <a:tc>
                  <a:txBody>
                    <a:bodyPr/>
                    <a:lstStyle/>
                    <a:p>
                      <a:r>
                        <a:rPr lang="en-US" sz="1800" dirty="0">
                          <a:latin typeface="Times New Roman" panose="02020603050405020304" pitchFamily="18" charset="0"/>
                          <a:cs typeface="Times New Roman" panose="02020603050405020304" pitchFamily="18" charset="0"/>
                        </a:rPr>
                        <a:t>TABLES_IN_EMS</a:t>
                      </a:r>
                    </a:p>
                  </a:txBody>
                  <a:tcPr/>
                </a:tc>
                <a:extLst>
                  <a:ext uri="{0D108BD9-81ED-4DB2-BD59-A6C34878D82A}">
                    <a16:rowId xmlns:a16="http://schemas.microsoft.com/office/drawing/2014/main" val="558747941"/>
                  </a:ext>
                </a:extLst>
              </a:tr>
              <a:tr h="452629">
                <a:tc>
                  <a:txBody>
                    <a:bodyPr/>
                    <a:lstStyle/>
                    <a:p>
                      <a:r>
                        <a:rPr lang="en-US" sz="1600" dirty="0">
                          <a:solidFill>
                            <a:schemeClr val="tx1"/>
                          </a:solidFill>
                          <a:latin typeface="Times New Roman" panose="02020603050405020304" pitchFamily="18" charset="0"/>
                          <a:cs typeface="Times New Roman" panose="02020603050405020304" pitchFamily="18" charset="0"/>
                        </a:rPr>
                        <a:t>1. JOBDEPARTMENT</a:t>
                      </a:r>
                    </a:p>
                  </a:txBody>
                  <a:tcPr/>
                </a:tc>
                <a:extLst>
                  <a:ext uri="{0D108BD9-81ED-4DB2-BD59-A6C34878D82A}">
                    <a16:rowId xmlns:a16="http://schemas.microsoft.com/office/drawing/2014/main" val="2269610965"/>
                  </a:ext>
                </a:extLst>
              </a:tr>
              <a:tr h="452629">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dirty="0">
                          <a:solidFill>
                            <a:schemeClr val="tx1"/>
                          </a:solidFill>
                          <a:latin typeface="Times New Roman" panose="02020603050405020304" pitchFamily="18" charset="0"/>
                          <a:cs typeface="Times New Roman" panose="02020603050405020304" pitchFamily="18" charset="0"/>
                        </a:rPr>
                        <a:t>2. SALARYBONUS</a:t>
                      </a:r>
                    </a:p>
                  </a:txBody>
                  <a:tcPr/>
                </a:tc>
                <a:extLst>
                  <a:ext uri="{0D108BD9-81ED-4DB2-BD59-A6C34878D82A}">
                    <a16:rowId xmlns:a16="http://schemas.microsoft.com/office/drawing/2014/main" val="2308489601"/>
                  </a:ext>
                </a:extLst>
              </a:tr>
              <a:tr h="452629">
                <a:tc>
                  <a:txBody>
                    <a:bodyPr/>
                    <a:lstStyle/>
                    <a:p>
                      <a:r>
                        <a:rPr lang="en-US" dirty="0"/>
                        <a:t>3. EMPLOYEE</a:t>
                      </a:r>
                    </a:p>
                  </a:txBody>
                  <a:tcPr/>
                </a:tc>
                <a:extLst>
                  <a:ext uri="{0D108BD9-81ED-4DB2-BD59-A6C34878D82A}">
                    <a16:rowId xmlns:a16="http://schemas.microsoft.com/office/drawing/2014/main" val="3212357286"/>
                  </a:ext>
                </a:extLst>
              </a:tr>
              <a:tr h="452629">
                <a:tc>
                  <a:txBody>
                    <a:bodyPr/>
                    <a:lstStyle/>
                    <a:p>
                      <a:r>
                        <a:rPr lang="en-US" dirty="0"/>
                        <a:t>4. QUALIFICATION</a:t>
                      </a:r>
                    </a:p>
                  </a:txBody>
                  <a:tcPr/>
                </a:tc>
                <a:extLst>
                  <a:ext uri="{0D108BD9-81ED-4DB2-BD59-A6C34878D82A}">
                    <a16:rowId xmlns:a16="http://schemas.microsoft.com/office/drawing/2014/main" val="3302455590"/>
                  </a:ext>
                </a:extLst>
              </a:tr>
              <a:tr h="452629">
                <a:tc>
                  <a:txBody>
                    <a:bodyPr/>
                    <a:lstStyle/>
                    <a:p>
                      <a:r>
                        <a:rPr lang="en-US" dirty="0"/>
                        <a:t>5. LEAVES</a:t>
                      </a:r>
                    </a:p>
                  </a:txBody>
                  <a:tcPr/>
                </a:tc>
                <a:extLst>
                  <a:ext uri="{0D108BD9-81ED-4DB2-BD59-A6C34878D82A}">
                    <a16:rowId xmlns:a16="http://schemas.microsoft.com/office/drawing/2014/main" val="3373910066"/>
                  </a:ext>
                </a:extLst>
              </a:tr>
              <a:tr h="452629">
                <a:tc>
                  <a:txBody>
                    <a:bodyPr/>
                    <a:lstStyle/>
                    <a:p>
                      <a:r>
                        <a:rPr lang="en-US" dirty="0"/>
                        <a:t>6. PAYROLL</a:t>
                      </a:r>
                    </a:p>
                  </a:txBody>
                  <a:tcPr/>
                </a:tc>
                <a:extLst>
                  <a:ext uri="{0D108BD9-81ED-4DB2-BD59-A6C34878D82A}">
                    <a16:rowId xmlns:a16="http://schemas.microsoft.com/office/drawing/2014/main" val="754528854"/>
                  </a:ext>
                </a:extLst>
              </a:tr>
            </a:tbl>
          </a:graphicData>
        </a:graphic>
      </p:graphicFrame>
    </p:spTree>
    <p:extLst>
      <p:ext uri="{BB962C8B-B14F-4D97-AF65-F5344CB8AC3E}">
        <p14:creationId xmlns:p14="http://schemas.microsoft.com/office/powerpoint/2010/main" val="9438012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icture 2" descr="🔥 People Business PowerPoint Background Download | CBEditz">
            <a:extLst>
              <a:ext uri="{FF2B5EF4-FFF2-40B4-BE49-F238E27FC236}">
                <a16:creationId xmlns:a16="http://schemas.microsoft.com/office/drawing/2014/main" id="{07C1645F-D3A8-4923-A89B-1BA9440AE7BD}"/>
              </a:ext>
            </a:extLst>
          </p:cNvPr>
          <p:cNvPicPr>
            <a:picLocks noChangeAspect="1" noChangeArrowheads="1"/>
          </p:cNvPicPr>
          <p:nvPr/>
        </p:nvPicPr>
        <p:blipFill>
          <a:blip r:embed="rId2">
            <a:alphaModFix amt="22000"/>
            <a:extLst>
              <a:ext uri="{28A0092B-C50C-407E-A947-70E740481C1C}">
                <a14:useLocalDpi xmlns:a14="http://schemas.microsoft.com/office/drawing/2010/main" val="0"/>
              </a:ext>
            </a:extLst>
          </a:blip>
          <a:srcRect/>
          <a:stretch>
            <a:fillRect/>
          </a:stretch>
        </p:blipFill>
        <p:spPr bwMode="auto">
          <a:xfrm>
            <a:off x="0" y="1"/>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44070982-B81C-43A4-8CE6-06BE76A197C9}"/>
              </a:ext>
            </a:extLst>
          </p:cNvPr>
          <p:cNvSpPr>
            <a:spLocks noGrp="1"/>
          </p:cNvSpPr>
          <p:nvPr>
            <p:ph type="title"/>
          </p:nvPr>
        </p:nvSpPr>
        <p:spPr>
          <a:xfrm>
            <a:off x="228600" y="0"/>
            <a:ext cx="10515600" cy="1325563"/>
          </a:xfrm>
        </p:spPr>
        <p:txBody>
          <a:bodyPr/>
          <a:lstStyle/>
          <a:p>
            <a:r>
              <a:rPr lang="en-US" b="1" dirty="0">
                <a:solidFill>
                  <a:srgbClr val="FF0000"/>
                </a:solidFill>
                <a:latin typeface="Times New Roman" panose="02020603050405020304" pitchFamily="18" charset="0"/>
                <a:cs typeface="Times New Roman" panose="02020603050405020304" pitchFamily="18" charset="0"/>
              </a:rPr>
              <a:t>TABLES STRUCTURES</a:t>
            </a:r>
            <a:endParaRPr lang="en-US" dirty="0">
              <a:solidFill>
                <a:srgbClr val="FF0000"/>
              </a:solidFill>
            </a:endParaRPr>
          </a:p>
        </p:txBody>
      </p:sp>
      <p:pic>
        <p:nvPicPr>
          <p:cNvPr id="4" name="Picture 3">
            <a:extLst>
              <a:ext uri="{FF2B5EF4-FFF2-40B4-BE49-F238E27FC236}">
                <a16:creationId xmlns:a16="http://schemas.microsoft.com/office/drawing/2014/main" id="{C7EA0EA9-62E4-49C4-B7B0-9EDBCE853F50}"/>
              </a:ext>
            </a:extLst>
          </p:cNvPr>
          <p:cNvPicPr>
            <a:picLocks noChangeAspect="1"/>
          </p:cNvPicPr>
          <p:nvPr/>
        </p:nvPicPr>
        <p:blipFill>
          <a:blip r:embed="rId3"/>
          <a:stretch>
            <a:fillRect/>
          </a:stretch>
        </p:blipFill>
        <p:spPr>
          <a:xfrm>
            <a:off x="6546850" y="2695575"/>
            <a:ext cx="4000500" cy="2181225"/>
          </a:xfrm>
          <a:prstGeom prst="rect">
            <a:avLst/>
          </a:prstGeom>
        </p:spPr>
      </p:pic>
      <p:pic>
        <p:nvPicPr>
          <p:cNvPr id="11" name="Picture 10">
            <a:extLst>
              <a:ext uri="{FF2B5EF4-FFF2-40B4-BE49-F238E27FC236}">
                <a16:creationId xmlns:a16="http://schemas.microsoft.com/office/drawing/2014/main" id="{57B3793A-1322-46E5-888A-A01AA58F663B}"/>
              </a:ext>
            </a:extLst>
          </p:cNvPr>
          <p:cNvPicPr>
            <a:picLocks noChangeAspect="1"/>
          </p:cNvPicPr>
          <p:nvPr/>
        </p:nvPicPr>
        <p:blipFill>
          <a:blip r:embed="rId4"/>
          <a:stretch>
            <a:fillRect/>
          </a:stretch>
        </p:blipFill>
        <p:spPr>
          <a:xfrm>
            <a:off x="1206501" y="4581525"/>
            <a:ext cx="3829050" cy="1362075"/>
          </a:xfrm>
          <a:prstGeom prst="rect">
            <a:avLst/>
          </a:prstGeom>
        </p:spPr>
      </p:pic>
      <p:pic>
        <p:nvPicPr>
          <p:cNvPr id="15" name="Picture 14">
            <a:extLst>
              <a:ext uri="{FF2B5EF4-FFF2-40B4-BE49-F238E27FC236}">
                <a16:creationId xmlns:a16="http://schemas.microsoft.com/office/drawing/2014/main" id="{CDD038B0-65B4-4D93-8B92-0F86FC6875CD}"/>
              </a:ext>
            </a:extLst>
          </p:cNvPr>
          <p:cNvPicPr>
            <a:picLocks noChangeAspect="1"/>
          </p:cNvPicPr>
          <p:nvPr/>
        </p:nvPicPr>
        <p:blipFill>
          <a:blip r:embed="rId5"/>
          <a:stretch>
            <a:fillRect/>
          </a:stretch>
        </p:blipFill>
        <p:spPr>
          <a:xfrm>
            <a:off x="1206501" y="1962150"/>
            <a:ext cx="3895725" cy="1466850"/>
          </a:xfrm>
          <a:prstGeom prst="rect">
            <a:avLst/>
          </a:prstGeom>
        </p:spPr>
      </p:pic>
      <p:sp>
        <p:nvSpPr>
          <p:cNvPr id="17" name="TextBox 16">
            <a:extLst>
              <a:ext uri="{FF2B5EF4-FFF2-40B4-BE49-F238E27FC236}">
                <a16:creationId xmlns:a16="http://schemas.microsoft.com/office/drawing/2014/main" id="{7BC30472-E096-409B-8B0D-DB8490BAE25B}"/>
              </a:ext>
            </a:extLst>
          </p:cNvPr>
          <p:cNvSpPr txBox="1"/>
          <p:nvPr/>
        </p:nvSpPr>
        <p:spPr>
          <a:xfrm>
            <a:off x="1206501" y="1325563"/>
            <a:ext cx="3714751" cy="430887"/>
          </a:xfrm>
          <a:prstGeom prst="rect">
            <a:avLst/>
          </a:prstGeom>
          <a:noFill/>
        </p:spPr>
        <p:txBody>
          <a:bodyPr wrap="square" rtlCol="0">
            <a:spAutoFit/>
          </a:bodyPr>
          <a:lstStyle/>
          <a:p>
            <a:r>
              <a:rPr lang="en-US" sz="2200" b="1" dirty="0">
                <a:solidFill>
                  <a:schemeClr val="tx1"/>
                </a:solidFill>
                <a:latin typeface="Times New Roman" panose="02020603050405020304" pitchFamily="18" charset="0"/>
                <a:cs typeface="Times New Roman" panose="02020603050405020304" pitchFamily="18" charset="0"/>
              </a:rPr>
              <a:t>JOBDEPARTMENT</a:t>
            </a:r>
            <a:endParaRPr lang="en-US" sz="2200" b="1" dirty="0"/>
          </a:p>
        </p:txBody>
      </p:sp>
      <p:sp>
        <p:nvSpPr>
          <p:cNvPr id="18" name="TextBox 17">
            <a:extLst>
              <a:ext uri="{FF2B5EF4-FFF2-40B4-BE49-F238E27FC236}">
                <a16:creationId xmlns:a16="http://schemas.microsoft.com/office/drawing/2014/main" id="{4DA44382-C1C9-44EC-8232-1FD86D24AD54}"/>
              </a:ext>
            </a:extLst>
          </p:cNvPr>
          <p:cNvSpPr txBox="1"/>
          <p:nvPr/>
        </p:nvSpPr>
        <p:spPr>
          <a:xfrm>
            <a:off x="6546850" y="1962150"/>
            <a:ext cx="3663950" cy="430887"/>
          </a:xfrm>
          <a:prstGeom prst="rect">
            <a:avLst/>
          </a:prstGeom>
          <a:noFill/>
        </p:spPr>
        <p:txBody>
          <a:bodyPr wrap="square" rtlCol="0">
            <a:spAutoFit/>
          </a:bodyPr>
          <a:lstStyle/>
          <a:p>
            <a:r>
              <a:rPr lang="en-US" sz="2200" b="1" dirty="0">
                <a:solidFill>
                  <a:schemeClr val="tx1"/>
                </a:solidFill>
                <a:latin typeface="Times New Roman" panose="02020603050405020304" pitchFamily="18" charset="0"/>
                <a:cs typeface="Times New Roman" panose="02020603050405020304" pitchFamily="18" charset="0"/>
              </a:rPr>
              <a:t>EMPLOYEE</a:t>
            </a:r>
          </a:p>
        </p:txBody>
      </p:sp>
      <p:sp>
        <p:nvSpPr>
          <p:cNvPr id="19" name="TextBox 18">
            <a:extLst>
              <a:ext uri="{FF2B5EF4-FFF2-40B4-BE49-F238E27FC236}">
                <a16:creationId xmlns:a16="http://schemas.microsoft.com/office/drawing/2014/main" id="{9440254E-EC5C-4F47-BDCA-2C0B52F5D2CF}"/>
              </a:ext>
            </a:extLst>
          </p:cNvPr>
          <p:cNvSpPr txBox="1"/>
          <p:nvPr/>
        </p:nvSpPr>
        <p:spPr>
          <a:xfrm>
            <a:off x="1206501" y="3850143"/>
            <a:ext cx="3225799" cy="430887"/>
          </a:xfrm>
          <a:prstGeom prst="rect">
            <a:avLst/>
          </a:prstGeom>
          <a:noFill/>
        </p:spPr>
        <p:txBody>
          <a:bodyPr wrap="square" rtlCol="0">
            <a:spAutoFit/>
          </a:bodyPr>
          <a:lstStyle/>
          <a:p>
            <a:r>
              <a:rPr lang="en-US" sz="2200" b="1" dirty="0">
                <a:solidFill>
                  <a:schemeClr val="tx1"/>
                </a:solidFill>
                <a:latin typeface="Times New Roman" panose="02020603050405020304" pitchFamily="18" charset="0"/>
                <a:cs typeface="Times New Roman" panose="02020603050405020304" pitchFamily="18" charset="0"/>
              </a:rPr>
              <a:t>SALARYBONUS</a:t>
            </a:r>
          </a:p>
        </p:txBody>
      </p:sp>
    </p:spTree>
    <p:extLst>
      <p:ext uri="{BB962C8B-B14F-4D97-AF65-F5344CB8AC3E}">
        <p14:creationId xmlns:p14="http://schemas.microsoft.com/office/powerpoint/2010/main" val="23542755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2" descr="🔥 People Business PowerPoint Background Download | CBEditz">
            <a:extLst>
              <a:ext uri="{FF2B5EF4-FFF2-40B4-BE49-F238E27FC236}">
                <a16:creationId xmlns:a16="http://schemas.microsoft.com/office/drawing/2014/main" id="{EF6ADD90-0A18-4D89-8B64-4FE6DBCA9384}"/>
              </a:ext>
            </a:extLst>
          </p:cNvPr>
          <p:cNvPicPr>
            <a:picLocks noChangeAspect="1" noChangeArrowheads="1"/>
          </p:cNvPicPr>
          <p:nvPr/>
        </p:nvPicPr>
        <p:blipFill>
          <a:blip r:embed="rId2">
            <a:alphaModFix amt="22000"/>
            <a:extLst>
              <a:ext uri="{28A0092B-C50C-407E-A947-70E740481C1C}">
                <a14:useLocalDpi xmlns:a14="http://schemas.microsoft.com/office/drawing/2010/main" val="0"/>
              </a:ext>
            </a:extLst>
          </a:blip>
          <a:srcRect/>
          <a:stretch>
            <a:fillRect/>
          </a:stretch>
        </p:blipFill>
        <p:spPr bwMode="auto">
          <a:xfrm>
            <a:off x="0" y="1"/>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A5274C03-7BE4-4F61-BC62-6C7485BA5CF7}"/>
              </a:ext>
            </a:extLst>
          </p:cNvPr>
          <p:cNvSpPr>
            <a:spLocks noGrp="1"/>
          </p:cNvSpPr>
          <p:nvPr>
            <p:ph type="title"/>
          </p:nvPr>
        </p:nvSpPr>
        <p:spPr>
          <a:xfrm>
            <a:off x="292100" y="0"/>
            <a:ext cx="10515600" cy="1325563"/>
          </a:xfrm>
        </p:spPr>
        <p:txBody>
          <a:bodyPr/>
          <a:lstStyle/>
          <a:p>
            <a:r>
              <a:rPr lang="en-US" b="1" dirty="0">
                <a:solidFill>
                  <a:srgbClr val="FF0000"/>
                </a:solidFill>
                <a:latin typeface="Times New Roman" panose="02020603050405020304" pitchFamily="18" charset="0"/>
                <a:cs typeface="Times New Roman" panose="02020603050405020304" pitchFamily="18" charset="0"/>
              </a:rPr>
              <a:t>TABLES STRUCTURES</a:t>
            </a:r>
            <a:endParaRPr lang="en-US" dirty="0"/>
          </a:p>
        </p:txBody>
      </p:sp>
      <p:pic>
        <p:nvPicPr>
          <p:cNvPr id="4" name="Picture 3">
            <a:extLst>
              <a:ext uri="{FF2B5EF4-FFF2-40B4-BE49-F238E27FC236}">
                <a16:creationId xmlns:a16="http://schemas.microsoft.com/office/drawing/2014/main" id="{FAA27B5E-EF9E-4E19-A40F-3E3429B26265}"/>
              </a:ext>
            </a:extLst>
          </p:cNvPr>
          <p:cNvPicPr>
            <a:picLocks noChangeAspect="1"/>
          </p:cNvPicPr>
          <p:nvPr/>
        </p:nvPicPr>
        <p:blipFill>
          <a:blip r:embed="rId3"/>
          <a:stretch>
            <a:fillRect/>
          </a:stretch>
        </p:blipFill>
        <p:spPr>
          <a:xfrm>
            <a:off x="6804025" y="2759074"/>
            <a:ext cx="4038600" cy="1952625"/>
          </a:xfrm>
          <a:prstGeom prst="rect">
            <a:avLst/>
          </a:prstGeom>
        </p:spPr>
      </p:pic>
      <p:pic>
        <p:nvPicPr>
          <p:cNvPr id="5" name="Picture 4">
            <a:extLst>
              <a:ext uri="{FF2B5EF4-FFF2-40B4-BE49-F238E27FC236}">
                <a16:creationId xmlns:a16="http://schemas.microsoft.com/office/drawing/2014/main" id="{9E7FA40C-4E2A-4330-9C2A-E3AC2C9F4529}"/>
              </a:ext>
            </a:extLst>
          </p:cNvPr>
          <p:cNvPicPr>
            <a:picLocks noChangeAspect="1"/>
          </p:cNvPicPr>
          <p:nvPr/>
        </p:nvPicPr>
        <p:blipFill>
          <a:blip r:embed="rId4"/>
          <a:stretch>
            <a:fillRect/>
          </a:stretch>
        </p:blipFill>
        <p:spPr>
          <a:xfrm>
            <a:off x="1320802" y="4197349"/>
            <a:ext cx="3314700" cy="1104900"/>
          </a:xfrm>
          <a:prstGeom prst="rect">
            <a:avLst/>
          </a:prstGeom>
        </p:spPr>
      </p:pic>
      <p:pic>
        <p:nvPicPr>
          <p:cNvPr id="6" name="Picture 5">
            <a:extLst>
              <a:ext uri="{FF2B5EF4-FFF2-40B4-BE49-F238E27FC236}">
                <a16:creationId xmlns:a16="http://schemas.microsoft.com/office/drawing/2014/main" id="{0C9348B9-CCE8-40F5-ABF4-E72653B67858}"/>
              </a:ext>
            </a:extLst>
          </p:cNvPr>
          <p:cNvPicPr>
            <a:picLocks noChangeAspect="1"/>
          </p:cNvPicPr>
          <p:nvPr/>
        </p:nvPicPr>
        <p:blipFill>
          <a:blip r:embed="rId5"/>
          <a:stretch>
            <a:fillRect/>
          </a:stretch>
        </p:blipFill>
        <p:spPr>
          <a:xfrm>
            <a:off x="1320802" y="2073275"/>
            <a:ext cx="4067175" cy="1371600"/>
          </a:xfrm>
          <a:prstGeom prst="rect">
            <a:avLst/>
          </a:prstGeom>
        </p:spPr>
      </p:pic>
      <p:sp>
        <p:nvSpPr>
          <p:cNvPr id="7" name="TextBox 6">
            <a:extLst>
              <a:ext uri="{FF2B5EF4-FFF2-40B4-BE49-F238E27FC236}">
                <a16:creationId xmlns:a16="http://schemas.microsoft.com/office/drawing/2014/main" id="{440BD21E-A06C-41A1-9D6B-E1A7CAD737CD}"/>
              </a:ext>
            </a:extLst>
          </p:cNvPr>
          <p:cNvSpPr txBox="1"/>
          <p:nvPr/>
        </p:nvSpPr>
        <p:spPr>
          <a:xfrm>
            <a:off x="1320802" y="1395988"/>
            <a:ext cx="3784598" cy="430887"/>
          </a:xfrm>
          <a:prstGeom prst="rect">
            <a:avLst/>
          </a:prstGeom>
          <a:noFill/>
        </p:spPr>
        <p:txBody>
          <a:bodyPr wrap="square" rtlCol="0">
            <a:spAutoFit/>
          </a:bodyPr>
          <a:lstStyle/>
          <a:p>
            <a:r>
              <a:rPr lang="en-US" sz="2200" b="1" dirty="0">
                <a:solidFill>
                  <a:schemeClr val="tx1"/>
                </a:solidFill>
                <a:latin typeface="Times New Roman" panose="02020603050405020304" pitchFamily="18" charset="0"/>
                <a:cs typeface="Times New Roman" panose="02020603050405020304" pitchFamily="18" charset="0"/>
              </a:rPr>
              <a:t>QUALIFICATION</a:t>
            </a:r>
          </a:p>
        </p:txBody>
      </p:sp>
      <p:sp>
        <p:nvSpPr>
          <p:cNvPr id="8" name="TextBox 7">
            <a:extLst>
              <a:ext uri="{FF2B5EF4-FFF2-40B4-BE49-F238E27FC236}">
                <a16:creationId xmlns:a16="http://schemas.microsoft.com/office/drawing/2014/main" id="{93902D2F-D660-4332-9F98-64C390268F67}"/>
              </a:ext>
            </a:extLst>
          </p:cNvPr>
          <p:cNvSpPr txBox="1"/>
          <p:nvPr/>
        </p:nvSpPr>
        <p:spPr>
          <a:xfrm>
            <a:off x="6804024" y="2115125"/>
            <a:ext cx="3152775" cy="430887"/>
          </a:xfrm>
          <a:prstGeom prst="rect">
            <a:avLst/>
          </a:prstGeom>
          <a:noFill/>
        </p:spPr>
        <p:txBody>
          <a:bodyPr wrap="square" rtlCol="0">
            <a:spAutoFit/>
          </a:bodyPr>
          <a:lstStyle/>
          <a:p>
            <a:r>
              <a:rPr lang="en-US" sz="2200" b="1" dirty="0">
                <a:solidFill>
                  <a:schemeClr val="tx1"/>
                </a:solidFill>
                <a:latin typeface="Times New Roman" panose="02020603050405020304" pitchFamily="18" charset="0"/>
                <a:cs typeface="Times New Roman" panose="02020603050405020304" pitchFamily="18" charset="0"/>
              </a:rPr>
              <a:t>LEAVES</a:t>
            </a:r>
          </a:p>
        </p:txBody>
      </p:sp>
      <p:sp>
        <p:nvSpPr>
          <p:cNvPr id="9" name="TextBox 8">
            <a:extLst>
              <a:ext uri="{FF2B5EF4-FFF2-40B4-BE49-F238E27FC236}">
                <a16:creationId xmlns:a16="http://schemas.microsoft.com/office/drawing/2014/main" id="{381CD807-2E13-4E8E-B43B-2C6E5113943C}"/>
              </a:ext>
            </a:extLst>
          </p:cNvPr>
          <p:cNvSpPr txBox="1"/>
          <p:nvPr/>
        </p:nvSpPr>
        <p:spPr>
          <a:xfrm>
            <a:off x="1320802" y="3605668"/>
            <a:ext cx="2463800" cy="430887"/>
          </a:xfrm>
          <a:prstGeom prst="rect">
            <a:avLst/>
          </a:prstGeom>
          <a:noFill/>
        </p:spPr>
        <p:txBody>
          <a:bodyPr wrap="square" rtlCol="0">
            <a:spAutoFit/>
          </a:bodyPr>
          <a:lstStyle/>
          <a:p>
            <a:r>
              <a:rPr lang="en-US" sz="2200" b="1" dirty="0">
                <a:solidFill>
                  <a:schemeClr val="tx1"/>
                </a:solidFill>
                <a:latin typeface="Times New Roman" panose="02020603050405020304" pitchFamily="18" charset="0"/>
                <a:cs typeface="Times New Roman" panose="02020603050405020304" pitchFamily="18" charset="0"/>
              </a:rPr>
              <a:t>PAYROLL</a:t>
            </a:r>
          </a:p>
        </p:txBody>
      </p:sp>
    </p:spTree>
    <p:extLst>
      <p:ext uri="{BB962C8B-B14F-4D97-AF65-F5344CB8AC3E}">
        <p14:creationId xmlns:p14="http://schemas.microsoft.com/office/powerpoint/2010/main" val="40791844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 People Business PowerPoint Background Download | CBEditz">
            <a:extLst>
              <a:ext uri="{FF2B5EF4-FFF2-40B4-BE49-F238E27FC236}">
                <a16:creationId xmlns:a16="http://schemas.microsoft.com/office/drawing/2014/main" id="{854C6BA5-919D-4165-9FEF-A03A13D9C155}"/>
              </a:ext>
            </a:extLst>
          </p:cNvPr>
          <p:cNvPicPr>
            <a:picLocks noChangeAspect="1" noChangeArrowheads="1"/>
          </p:cNvPicPr>
          <p:nvPr/>
        </p:nvPicPr>
        <p:blipFill>
          <a:blip r:embed="rId2">
            <a:alphaModFix amt="22000"/>
            <a:extLst>
              <a:ext uri="{28A0092B-C50C-407E-A947-70E740481C1C}">
                <a14:useLocalDpi xmlns:a14="http://schemas.microsoft.com/office/drawing/2010/main" val="0"/>
              </a:ext>
            </a:extLst>
          </a:blip>
          <a:srcRect/>
          <a:stretch>
            <a:fillRect/>
          </a:stretch>
        </p:blipFill>
        <p:spPr bwMode="auto">
          <a:xfrm>
            <a:off x="0" y="1"/>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FF1B8F07-DCFE-4C0D-96AF-9B7B2029AB8C}"/>
              </a:ext>
            </a:extLst>
          </p:cNvPr>
          <p:cNvSpPr>
            <a:spLocks noGrp="1"/>
          </p:cNvSpPr>
          <p:nvPr>
            <p:ph type="title"/>
          </p:nvPr>
        </p:nvSpPr>
        <p:spPr>
          <a:xfrm>
            <a:off x="203200" y="0"/>
            <a:ext cx="10515600" cy="1325563"/>
          </a:xfrm>
        </p:spPr>
        <p:txBody>
          <a:bodyPr/>
          <a:lstStyle/>
          <a:p>
            <a:r>
              <a:rPr lang="en-US" b="1" dirty="0">
                <a:solidFill>
                  <a:srgbClr val="FF0000"/>
                </a:solidFill>
                <a:latin typeface="Times New Roman" panose="02020603050405020304" pitchFamily="18" charset="0"/>
                <a:cs typeface="Times New Roman" panose="02020603050405020304" pitchFamily="18" charset="0"/>
              </a:rPr>
              <a:t>ER</a:t>
            </a:r>
            <a:r>
              <a:rPr lang="en-US" dirty="0"/>
              <a:t> </a:t>
            </a:r>
            <a:r>
              <a:rPr lang="en-US" b="1" dirty="0">
                <a:solidFill>
                  <a:srgbClr val="FF0000"/>
                </a:solidFill>
                <a:latin typeface="Times New Roman" panose="02020603050405020304" pitchFamily="18" charset="0"/>
                <a:cs typeface="Times New Roman" panose="02020603050405020304" pitchFamily="18" charset="0"/>
              </a:rPr>
              <a:t>DIAGRAM</a:t>
            </a:r>
          </a:p>
        </p:txBody>
      </p:sp>
      <p:pic>
        <p:nvPicPr>
          <p:cNvPr id="4" name="Picture 3">
            <a:extLst>
              <a:ext uri="{FF2B5EF4-FFF2-40B4-BE49-F238E27FC236}">
                <a16:creationId xmlns:a16="http://schemas.microsoft.com/office/drawing/2014/main" id="{E070665F-9809-4D47-A0FC-6581B67CC80E}"/>
              </a:ext>
            </a:extLst>
          </p:cNvPr>
          <p:cNvPicPr>
            <a:picLocks noChangeAspect="1"/>
          </p:cNvPicPr>
          <p:nvPr/>
        </p:nvPicPr>
        <p:blipFill>
          <a:blip r:embed="rId3"/>
          <a:stretch>
            <a:fillRect/>
          </a:stretch>
        </p:blipFill>
        <p:spPr>
          <a:xfrm>
            <a:off x="2380450" y="1027702"/>
            <a:ext cx="6407950" cy="5588997"/>
          </a:xfrm>
          <a:prstGeom prst="rect">
            <a:avLst/>
          </a:prstGeom>
        </p:spPr>
      </p:pic>
    </p:spTree>
    <p:extLst>
      <p:ext uri="{BB962C8B-B14F-4D97-AF65-F5344CB8AC3E}">
        <p14:creationId xmlns:p14="http://schemas.microsoft.com/office/powerpoint/2010/main" val="35529955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2" descr="🔥 People Business PowerPoint Background Download | CBEditz">
            <a:extLst>
              <a:ext uri="{FF2B5EF4-FFF2-40B4-BE49-F238E27FC236}">
                <a16:creationId xmlns:a16="http://schemas.microsoft.com/office/drawing/2014/main" id="{C756B233-CC83-4F2A-9B44-6067A7F9115B}"/>
              </a:ext>
            </a:extLst>
          </p:cNvPr>
          <p:cNvPicPr>
            <a:picLocks noChangeAspect="1" noChangeArrowheads="1"/>
          </p:cNvPicPr>
          <p:nvPr/>
        </p:nvPicPr>
        <p:blipFill>
          <a:blip r:embed="rId2">
            <a:alphaModFix amt="22000"/>
            <a:extLst>
              <a:ext uri="{28A0092B-C50C-407E-A947-70E740481C1C}">
                <a14:useLocalDpi xmlns:a14="http://schemas.microsoft.com/office/drawing/2010/main" val="0"/>
              </a:ext>
            </a:extLst>
          </a:blip>
          <a:srcRect/>
          <a:stretch>
            <a:fillRect/>
          </a:stretch>
        </p:blipFill>
        <p:spPr bwMode="auto">
          <a:xfrm>
            <a:off x="0" y="1"/>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C7590DA7-7487-47C8-B7AB-0B1EF2CC0299}"/>
              </a:ext>
            </a:extLst>
          </p:cNvPr>
          <p:cNvSpPr>
            <a:spLocks noGrp="1"/>
          </p:cNvSpPr>
          <p:nvPr>
            <p:ph type="title"/>
          </p:nvPr>
        </p:nvSpPr>
        <p:spPr>
          <a:xfrm>
            <a:off x="266700" y="0"/>
            <a:ext cx="10515600" cy="1325563"/>
          </a:xfrm>
        </p:spPr>
        <p:txBody>
          <a:bodyPr/>
          <a:lstStyle/>
          <a:p>
            <a:r>
              <a:rPr lang="en-US" b="1" dirty="0">
                <a:solidFill>
                  <a:srgbClr val="FF0000"/>
                </a:solidFill>
                <a:latin typeface="Times New Roman" panose="02020603050405020304" pitchFamily="18" charset="0"/>
                <a:cs typeface="Times New Roman" panose="02020603050405020304" pitchFamily="18" charset="0"/>
              </a:rPr>
              <a:t>ANALYSIS</a:t>
            </a:r>
          </a:p>
        </p:txBody>
      </p:sp>
      <p:sp>
        <p:nvSpPr>
          <p:cNvPr id="3" name="TextBox 2">
            <a:extLst>
              <a:ext uri="{FF2B5EF4-FFF2-40B4-BE49-F238E27FC236}">
                <a16:creationId xmlns:a16="http://schemas.microsoft.com/office/drawing/2014/main" id="{F38C0B67-DB00-4600-ADA8-E317B43AECA2}"/>
              </a:ext>
            </a:extLst>
          </p:cNvPr>
          <p:cNvSpPr txBox="1"/>
          <p:nvPr/>
        </p:nvSpPr>
        <p:spPr>
          <a:xfrm>
            <a:off x="1200150" y="1325563"/>
            <a:ext cx="6032500" cy="492443"/>
          </a:xfrm>
          <a:prstGeom prst="rect">
            <a:avLst/>
          </a:prstGeom>
          <a:noFill/>
        </p:spPr>
        <p:txBody>
          <a:bodyPr wrap="square" rtlCol="0">
            <a:spAutoFit/>
          </a:bodyPr>
          <a:lstStyle/>
          <a:p>
            <a:r>
              <a:rPr lang="en-US" sz="2600" b="1" i="0" u="none" strike="noStrike" dirty="0">
                <a:solidFill>
                  <a:srgbClr val="000000"/>
                </a:solidFill>
                <a:effectLst/>
                <a:latin typeface="Times New Roman" panose="02020603050405020304" pitchFamily="18" charset="0"/>
                <a:cs typeface="Times New Roman" panose="02020603050405020304" pitchFamily="18" charset="0"/>
              </a:rPr>
              <a:t>1. EMPLOYEE INSIGHTS</a:t>
            </a:r>
            <a:endParaRPr lang="en-US" sz="26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3217E4F2-A74D-4604-B4D1-689A455C54E8}"/>
              </a:ext>
            </a:extLst>
          </p:cNvPr>
          <p:cNvSpPr txBox="1"/>
          <p:nvPr/>
        </p:nvSpPr>
        <p:spPr>
          <a:xfrm>
            <a:off x="1511300" y="1956972"/>
            <a:ext cx="5410200" cy="338554"/>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A. How many unique employees are currently in the system?</a:t>
            </a:r>
          </a:p>
        </p:txBody>
      </p:sp>
      <p:graphicFrame>
        <p:nvGraphicFramePr>
          <p:cNvPr id="5" name="Table 5">
            <a:extLst>
              <a:ext uri="{FF2B5EF4-FFF2-40B4-BE49-F238E27FC236}">
                <a16:creationId xmlns:a16="http://schemas.microsoft.com/office/drawing/2014/main" id="{7692B7F1-72B7-4924-9AEB-BA3D824D02C5}"/>
              </a:ext>
            </a:extLst>
          </p:cNvPr>
          <p:cNvGraphicFramePr>
            <a:graphicFrameLocks noGrp="1"/>
          </p:cNvGraphicFramePr>
          <p:nvPr>
            <p:extLst>
              <p:ext uri="{D42A27DB-BD31-4B8C-83A1-F6EECF244321}">
                <p14:modId xmlns:p14="http://schemas.microsoft.com/office/powerpoint/2010/main" val="3283581965"/>
              </p:ext>
            </p:extLst>
          </p:nvPr>
        </p:nvGraphicFramePr>
        <p:xfrm>
          <a:off x="1511300" y="2602707"/>
          <a:ext cx="5511800" cy="518160"/>
        </p:xfrm>
        <a:graphic>
          <a:graphicData uri="http://schemas.openxmlformats.org/drawingml/2006/table">
            <a:tbl>
              <a:tblPr firstRow="1" bandRow="1">
                <a:tableStyleId>{7DF18680-E054-41AD-8BC1-D1AEF772440D}</a:tableStyleId>
              </a:tblPr>
              <a:tblGrid>
                <a:gridCol w="5511800">
                  <a:extLst>
                    <a:ext uri="{9D8B030D-6E8A-4147-A177-3AD203B41FA5}">
                      <a16:colId xmlns:a16="http://schemas.microsoft.com/office/drawing/2014/main" val="644335605"/>
                    </a:ext>
                  </a:extLst>
                </a:gridCol>
              </a:tblGrid>
              <a:tr h="359834">
                <a:tc>
                  <a:txBody>
                    <a:bodyPr/>
                    <a:lstStyle/>
                    <a:p>
                      <a:r>
                        <a:rPr lang="en-US" dirty="0"/>
                        <a:t>select count(distinct </a:t>
                      </a:r>
                      <a:r>
                        <a:rPr lang="en-US" dirty="0" err="1"/>
                        <a:t>emp_id</a:t>
                      </a:r>
                      <a:r>
                        <a:rPr lang="en-US" dirty="0"/>
                        <a:t>) AS </a:t>
                      </a:r>
                      <a:r>
                        <a:rPr lang="en-US" dirty="0" err="1"/>
                        <a:t>unique_employee_count</a:t>
                      </a:r>
                      <a:endParaRPr lang="en-US" dirty="0"/>
                    </a:p>
                    <a:p>
                      <a:r>
                        <a:rPr lang="en-US" dirty="0"/>
                        <a:t>FROM employee;</a:t>
                      </a:r>
                    </a:p>
                  </a:txBody>
                  <a:tcPr/>
                </a:tc>
                <a:extLst>
                  <a:ext uri="{0D108BD9-81ED-4DB2-BD59-A6C34878D82A}">
                    <a16:rowId xmlns:a16="http://schemas.microsoft.com/office/drawing/2014/main" val="370446795"/>
                  </a:ext>
                </a:extLst>
              </a:tr>
            </a:tbl>
          </a:graphicData>
        </a:graphic>
      </p:graphicFrame>
      <p:pic>
        <p:nvPicPr>
          <p:cNvPr id="7" name="Picture 6">
            <a:extLst>
              <a:ext uri="{FF2B5EF4-FFF2-40B4-BE49-F238E27FC236}">
                <a16:creationId xmlns:a16="http://schemas.microsoft.com/office/drawing/2014/main" id="{71A83CCE-ED0C-4D71-B6F5-907D34F7EADA}"/>
              </a:ext>
            </a:extLst>
          </p:cNvPr>
          <p:cNvPicPr>
            <a:picLocks noChangeAspect="1"/>
          </p:cNvPicPr>
          <p:nvPr/>
        </p:nvPicPr>
        <p:blipFill>
          <a:blip r:embed="rId3"/>
          <a:stretch>
            <a:fillRect/>
          </a:stretch>
        </p:blipFill>
        <p:spPr>
          <a:xfrm>
            <a:off x="9023350" y="2571592"/>
            <a:ext cx="1657350" cy="523875"/>
          </a:xfrm>
          <a:prstGeom prst="rect">
            <a:avLst/>
          </a:prstGeom>
        </p:spPr>
      </p:pic>
      <p:sp>
        <p:nvSpPr>
          <p:cNvPr id="8" name="TextBox 7">
            <a:extLst>
              <a:ext uri="{FF2B5EF4-FFF2-40B4-BE49-F238E27FC236}">
                <a16:creationId xmlns:a16="http://schemas.microsoft.com/office/drawing/2014/main" id="{584C556A-648C-406C-93F3-092E9C3B1E9A}"/>
              </a:ext>
            </a:extLst>
          </p:cNvPr>
          <p:cNvSpPr txBox="1"/>
          <p:nvPr/>
        </p:nvSpPr>
        <p:spPr>
          <a:xfrm>
            <a:off x="1511300" y="3736291"/>
            <a:ext cx="5702300" cy="338554"/>
          </a:xfrm>
          <a:prstGeom prst="rect">
            <a:avLst/>
          </a:prstGeom>
          <a:noFill/>
        </p:spPr>
        <p:txBody>
          <a:bodyPr wrap="square" rtlCol="0">
            <a:spAutoFit/>
          </a:bodyPr>
          <a:lstStyle/>
          <a:p>
            <a:r>
              <a:rPr lang="en-US" sz="1600" b="0" i="0" u="none" strike="noStrike" dirty="0">
                <a:solidFill>
                  <a:srgbClr val="000000"/>
                </a:solidFill>
                <a:effectLst/>
                <a:latin typeface="Times New Roman" panose="02020603050405020304" pitchFamily="18" charset="0"/>
                <a:cs typeface="Times New Roman" panose="02020603050405020304" pitchFamily="18" charset="0"/>
              </a:rPr>
              <a:t>B. Which departments </a:t>
            </a:r>
            <a:r>
              <a:rPr lang="en-US" sz="1600" dirty="0">
                <a:latin typeface="Times New Roman" panose="02020603050405020304" pitchFamily="18" charset="0"/>
                <a:cs typeface="Times New Roman" panose="02020603050405020304" pitchFamily="18" charset="0"/>
              </a:rPr>
              <a:t>have</a:t>
            </a:r>
            <a:r>
              <a:rPr lang="en-US" sz="1600" b="0" i="0" u="none" strike="noStrike" dirty="0">
                <a:solidFill>
                  <a:srgbClr val="000000"/>
                </a:solidFill>
                <a:effectLst/>
                <a:latin typeface="Times New Roman" panose="02020603050405020304" pitchFamily="18" charset="0"/>
                <a:cs typeface="Times New Roman" panose="02020603050405020304" pitchFamily="18" charset="0"/>
              </a:rPr>
              <a:t> the highest number of employees?</a:t>
            </a:r>
            <a:endParaRPr lang="en-US" sz="1600" dirty="0">
              <a:latin typeface="Times New Roman" panose="02020603050405020304" pitchFamily="18" charset="0"/>
              <a:cs typeface="Times New Roman" panose="02020603050405020304" pitchFamily="18" charset="0"/>
            </a:endParaRPr>
          </a:p>
        </p:txBody>
      </p:sp>
      <p:graphicFrame>
        <p:nvGraphicFramePr>
          <p:cNvPr id="9" name="Table 5">
            <a:extLst>
              <a:ext uri="{FF2B5EF4-FFF2-40B4-BE49-F238E27FC236}">
                <a16:creationId xmlns:a16="http://schemas.microsoft.com/office/drawing/2014/main" id="{6F0D19C3-B118-4F96-90C0-BE59124D6C08}"/>
              </a:ext>
            </a:extLst>
          </p:cNvPr>
          <p:cNvGraphicFramePr>
            <a:graphicFrameLocks noGrp="1"/>
          </p:cNvGraphicFramePr>
          <p:nvPr>
            <p:extLst>
              <p:ext uri="{D42A27DB-BD31-4B8C-83A1-F6EECF244321}">
                <p14:modId xmlns:p14="http://schemas.microsoft.com/office/powerpoint/2010/main" val="2125259065"/>
              </p:ext>
            </p:extLst>
          </p:nvPr>
        </p:nvGraphicFramePr>
        <p:xfrm>
          <a:off x="1511300" y="4213811"/>
          <a:ext cx="6223000" cy="1584960"/>
        </p:xfrm>
        <a:graphic>
          <a:graphicData uri="http://schemas.openxmlformats.org/drawingml/2006/table">
            <a:tbl>
              <a:tblPr firstRow="1" bandRow="1">
                <a:tableStyleId>{7DF18680-E054-41AD-8BC1-D1AEF772440D}</a:tableStyleId>
              </a:tblPr>
              <a:tblGrid>
                <a:gridCol w="6223000">
                  <a:extLst>
                    <a:ext uri="{9D8B030D-6E8A-4147-A177-3AD203B41FA5}">
                      <a16:colId xmlns:a16="http://schemas.microsoft.com/office/drawing/2014/main" val="644335605"/>
                    </a:ext>
                  </a:extLst>
                </a:gridCol>
              </a:tblGrid>
              <a:tr h="1403032">
                <a:tc>
                  <a:txBody>
                    <a:bodyPr/>
                    <a:lstStyle/>
                    <a:p>
                      <a:r>
                        <a:rPr lang="en-US" dirty="0"/>
                        <a:t>select </a:t>
                      </a:r>
                      <a:r>
                        <a:rPr lang="en-US" dirty="0" err="1"/>
                        <a:t>jd.jobdept</a:t>
                      </a:r>
                      <a:r>
                        <a:rPr lang="en-US" dirty="0"/>
                        <a:t>,</a:t>
                      </a:r>
                    </a:p>
                    <a:p>
                      <a:r>
                        <a:rPr lang="en-US" dirty="0"/>
                        <a:t>count(</a:t>
                      </a:r>
                      <a:r>
                        <a:rPr lang="en-US" dirty="0" err="1"/>
                        <a:t>e.emp_ID</a:t>
                      </a:r>
                      <a:r>
                        <a:rPr lang="en-US" dirty="0"/>
                        <a:t>) as </a:t>
                      </a:r>
                      <a:r>
                        <a:rPr lang="en-US" dirty="0" err="1"/>
                        <a:t>total_employees</a:t>
                      </a:r>
                      <a:endParaRPr lang="en-US" dirty="0"/>
                    </a:p>
                    <a:p>
                      <a:r>
                        <a:rPr lang="en-US" dirty="0"/>
                        <a:t>from Employee e</a:t>
                      </a:r>
                    </a:p>
                    <a:p>
                      <a:r>
                        <a:rPr lang="en-US" dirty="0"/>
                        <a:t>join </a:t>
                      </a:r>
                      <a:r>
                        <a:rPr lang="en-US" dirty="0" err="1"/>
                        <a:t>JobDepartment</a:t>
                      </a:r>
                      <a:r>
                        <a:rPr lang="en-US" dirty="0"/>
                        <a:t> </a:t>
                      </a:r>
                      <a:r>
                        <a:rPr lang="en-US" dirty="0" err="1"/>
                        <a:t>jd</a:t>
                      </a:r>
                      <a:endParaRPr lang="en-US" dirty="0"/>
                    </a:p>
                    <a:p>
                      <a:r>
                        <a:rPr lang="en-US" dirty="0"/>
                        <a:t>on </a:t>
                      </a:r>
                      <a:r>
                        <a:rPr lang="en-US" dirty="0" err="1"/>
                        <a:t>e.Job_ID</a:t>
                      </a:r>
                      <a:r>
                        <a:rPr lang="en-US" dirty="0"/>
                        <a:t> = </a:t>
                      </a:r>
                      <a:r>
                        <a:rPr lang="en-US" dirty="0" err="1"/>
                        <a:t>jd.Job_ID</a:t>
                      </a:r>
                      <a:endParaRPr lang="en-US" dirty="0"/>
                    </a:p>
                    <a:p>
                      <a:r>
                        <a:rPr lang="en-US" dirty="0"/>
                        <a:t>group by </a:t>
                      </a:r>
                      <a:r>
                        <a:rPr lang="en-US" dirty="0" err="1"/>
                        <a:t>jd.jobdept</a:t>
                      </a:r>
                      <a:endParaRPr lang="en-US" dirty="0"/>
                    </a:p>
                    <a:p>
                      <a:r>
                        <a:rPr lang="en-US" dirty="0"/>
                        <a:t>order by  </a:t>
                      </a:r>
                      <a:r>
                        <a:rPr lang="en-US" dirty="0" err="1"/>
                        <a:t>total_employees</a:t>
                      </a:r>
                      <a:r>
                        <a:rPr lang="en-US" dirty="0"/>
                        <a:t> desc;</a:t>
                      </a:r>
                    </a:p>
                  </a:txBody>
                  <a:tcPr/>
                </a:tc>
                <a:extLst>
                  <a:ext uri="{0D108BD9-81ED-4DB2-BD59-A6C34878D82A}">
                    <a16:rowId xmlns:a16="http://schemas.microsoft.com/office/drawing/2014/main" val="370446795"/>
                  </a:ext>
                </a:extLst>
              </a:tr>
            </a:tbl>
          </a:graphicData>
        </a:graphic>
      </p:graphicFrame>
      <p:pic>
        <p:nvPicPr>
          <p:cNvPr id="11" name="Picture 10">
            <a:extLst>
              <a:ext uri="{FF2B5EF4-FFF2-40B4-BE49-F238E27FC236}">
                <a16:creationId xmlns:a16="http://schemas.microsoft.com/office/drawing/2014/main" id="{A22C82AE-04CF-4307-B878-A1049061C46B}"/>
              </a:ext>
            </a:extLst>
          </p:cNvPr>
          <p:cNvPicPr>
            <a:picLocks noChangeAspect="1"/>
          </p:cNvPicPr>
          <p:nvPr/>
        </p:nvPicPr>
        <p:blipFill>
          <a:blip r:embed="rId4"/>
          <a:stretch>
            <a:fillRect/>
          </a:stretch>
        </p:blipFill>
        <p:spPr>
          <a:xfrm>
            <a:off x="9023350" y="3905568"/>
            <a:ext cx="2066925" cy="1895475"/>
          </a:xfrm>
          <a:prstGeom prst="rect">
            <a:avLst/>
          </a:prstGeom>
        </p:spPr>
      </p:pic>
    </p:spTree>
    <p:extLst>
      <p:ext uri="{BB962C8B-B14F-4D97-AF65-F5344CB8AC3E}">
        <p14:creationId xmlns:p14="http://schemas.microsoft.com/office/powerpoint/2010/main" val="1415819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2" descr="🔥 People Business PowerPoint Background Download | CBEditz">
            <a:extLst>
              <a:ext uri="{FF2B5EF4-FFF2-40B4-BE49-F238E27FC236}">
                <a16:creationId xmlns:a16="http://schemas.microsoft.com/office/drawing/2014/main" id="{EF90B365-850A-4008-A9D5-CC0D6C387D62}"/>
              </a:ext>
            </a:extLst>
          </p:cNvPr>
          <p:cNvPicPr>
            <a:picLocks noChangeAspect="1" noChangeArrowheads="1"/>
          </p:cNvPicPr>
          <p:nvPr/>
        </p:nvPicPr>
        <p:blipFill>
          <a:blip r:embed="rId2">
            <a:alphaModFix amt="22000"/>
            <a:extLst>
              <a:ext uri="{28A0092B-C50C-407E-A947-70E740481C1C}">
                <a14:useLocalDpi xmlns:a14="http://schemas.microsoft.com/office/drawing/2010/main" val="0"/>
              </a:ext>
            </a:extLst>
          </a:blip>
          <a:srcRect/>
          <a:stretch>
            <a:fillRect/>
          </a:stretch>
        </p:blipFill>
        <p:spPr bwMode="auto">
          <a:xfrm>
            <a:off x="0" y="1"/>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C7590DA7-7487-47C8-B7AB-0B1EF2CC0299}"/>
              </a:ext>
            </a:extLst>
          </p:cNvPr>
          <p:cNvSpPr>
            <a:spLocks noGrp="1"/>
          </p:cNvSpPr>
          <p:nvPr>
            <p:ph type="title"/>
          </p:nvPr>
        </p:nvSpPr>
        <p:spPr>
          <a:xfrm>
            <a:off x="266700" y="0"/>
            <a:ext cx="10515600" cy="1325563"/>
          </a:xfrm>
        </p:spPr>
        <p:txBody>
          <a:bodyPr/>
          <a:lstStyle/>
          <a:p>
            <a:r>
              <a:rPr lang="en-US" b="1" dirty="0">
                <a:solidFill>
                  <a:srgbClr val="FF0000"/>
                </a:solidFill>
                <a:latin typeface="Times New Roman" panose="02020603050405020304" pitchFamily="18" charset="0"/>
                <a:cs typeface="Times New Roman" panose="02020603050405020304" pitchFamily="18" charset="0"/>
              </a:rPr>
              <a:t>ANALYSIS</a:t>
            </a:r>
          </a:p>
        </p:txBody>
      </p:sp>
      <p:sp>
        <p:nvSpPr>
          <p:cNvPr id="3" name="TextBox 2">
            <a:extLst>
              <a:ext uri="{FF2B5EF4-FFF2-40B4-BE49-F238E27FC236}">
                <a16:creationId xmlns:a16="http://schemas.microsoft.com/office/drawing/2014/main" id="{F38C0B67-DB00-4600-ADA8-E317B43AECA2}"/>
              </a:ext>
            </a:extLst>
          </p:cNvPr>
          <p:cNvSpPr txBox="1"/>
          <p:nvPr/>
        </p:nvSpPr>
        <p:spPr>
          <a:xfrm>
            <a:off x="1200150" y="1325563"/>
            <a:ext cx="6032500" cy="492443"/>
          </a:xfrm>
          <a:prstGeom prst="rect">
            <a:avLst/>
          </a:prstGeom>
          <a:noFill/>
        </p:spPr>
        <p:txBody>
          <a:bodyPr wrap="square" rtlCol="0">
            <a:spAutoFit/>
          </a:bodyPr>
          <a:lstStyle/>
          <a:p>
            <a:r>
              <a:rPr lang="en-US" sz="2600" b="1" i="0" u="none" strike="noStrike" dirty="0">
                <a:solidFill>
                  <a:srgbClr val="000000"/>
                </a:solidFill>
                <a:effectLst/>
                <a:latin typeface="Times New Roman" panose="02020603050405020304" pitchFamily="18" charset="0"/>
                <a:cs typeface="Times New Roman" panose="02020603050405020304" pitchFamily="18" charset="0"/>
              </a:rPr>
              <a:t>1. EMPLOYEE INSIGHTS</a:t>
            </a:r>
            <a:endParaRPr lang="en-US" sz="26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3217E4F2-A74D-4604-B4D1-689A455C54E8}"/>
              </a:ext>
            </a:extLst>
          </p:cNvPr>
          <p:cNvSpPr txBox="1"/>
          <p:nvPr/>
        </p:nvSpPr>
        <p:spPr>
          <a:xfrm>
            <a:off x="1511300" y="1956972"/>
            <a:ext cx="5410200" cy="338554"/>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C. What is the average salary per department?</a:t>
            </a:r>
          </a:p>
        </p:txBody>
      </p:sp>
      <p:graphicFrame>
        <p:nvGraphicFramePr>
          <p:cNvPr id="5" name="Table 5">
            <a:extLst>
              <a:ext uri="{FF2B5EF4-FFF2-40B4-BE49-F238E27FC236}">
                <a16:creationId xmlns:a16="http://schemas.microsoft.com/office/drawing/2014/main" id="{7692B7F1-72B7-4924-9AEB-BA3D824D02C5}"/>
              </a:ext>
            </a:extLst>
          </p:cNvPr>
          <p:cNvGraphicFramePr>
            <a:graphicFrameLocks noGrp="1"/>
          </p:cNvGraphicFramePr>
          <p:nvPr>
            <p:extLst>
              <p:ext uri="{D42A27DB-BD31-4B8C-83A1-F6EECF244321}">
                <p14:modId xmlns:p14="http://schemas.microsoft.com/office/powerpoint/2010/main" val="3204205487"/>
              </p:ext>
            </p:extLst>
          </p:nvPr>
        </p:nvGraphicFramePr>
        <p:xfrm>
          <a:off x="1511300" y="2434492"/>
          <a:ext cx="5511800" cy="1158240"/>
        </p:xfrm>
        <a:graphic>
          <a:graphicData uri="http://schemas.openxmlformats.org/drawingml/2006/table">
            <a:tbl>
              <a:tblPr firstRow="1" bandRow="1">
                <a:tableStyleId>{7DF18680-E054-41AD-8BC1-D1AEF772440D}</a:tableStyleId>
              </a:tblPr>
              <a:tblGrid>
                <a:gridCol w="5511800">
                  <a:extLst>
                    <a:ext uri="{9D8B030D-6E8A-4147-A177-3AD203B41FA5}">
                      <a16:colId xmlns:a16="http://schemas.microsoft.com/office/drawing/2014/main" val="644335605"/>
                    </a:ext>
                  </a:extLst>
                </a:gridCol>
              </a:tblGrid>
              <a:tr h="359834">
                <a:tc>
                  <a:txBody>
                    <a:bodyPr/>
                    <a:lstStyle/>
                    <a:p>
                      <a:r>
                        <a:rPr lang="en-US" dirty="0"/>
                        <a:t>select </a:t>
                      </a:r>
                      <a:r>
                        <a:rPr lang="en-US" dirty="0" err="1"/>
                        <a:t>j.jobdept,avg</a:t>
                      </a:r>
                      <a:r>
                        <a:rPr lang="en-US" dirty="0"/>
                        <a:t>(</a:t>
                      </a:r>
                      <a:r>
                        <a:rPr lang="en-US" dirty="0" err="1"/>
                        <a:t>s.amount</a:t>
                      </a:r>
                      <a:r>
                        <a:rPr lang="en-US" dirty="0"/>
                        <a:t>) as </a:t>
                      </a:r>
                      <a:r>
                        <a:rPr lang="en-US" dirty="0" err="1"/>
                        <a:t>avg_salary</a:t>
                      </a:r>
                      <a:r>
                        <a:rPr lang="en-US" dirty="0"/>
                        <a:t> from </a:t>
                      </a:r>
                      <a:r>
                        <a:rPr lang="en-US" dirty="0" err="1"/>
                        <a:t>jobdepartment</a:t>
                      </a:r>
                      <a:r>
                        <a:rPr lang="en-US" dirty="0"/>
                        <a:t> j</a:t>
                      </a:r>
                    </a:p>
                    <a:p>
                      <a:r>
                        <a:rPr lang="en-US" dirty="0"/>
                        <a:t>join </a:t>
                      </a:r>
                      <a:r>
                        <a:rPr lang="en-US" dirty="0" err="1"/>
                        <a:t>salarybonus</a:t>
                      </a:r>
                      <a:r>
                        <a:rPr lang="en-US" dirty="0"/>
                        <a:t> s</a:t>
                      </a:r>
                    </a:p>
                    <a:p>
                      <a:r>
                        <a:rPr lang="en-US" dirty="0"/>
                        <a:t>on </a:t>
                      </a:r>
                      <a:r>
                        <a:rPr lang="en-US" dirty="0" err="1"/>
                        <a:t>j.job_id</a:t>
                      </a:r>
                      <a:r>
                        <a:rPr lang="en-US" dirty="0"/>
                        <a:t> = </a:t>
                      </a:r>
                      <a:r>
                        <a:rPr lang="en-US" dirty="0" err="1"/>
                        <a:t>s.job_id</a:t>
                      </a:r>
                      <a:endParaRPr lang="en-US" dirty="0"/>
                    </a:p>
                    <a:p>
                      <a:r>
                        <a:rPr lang="en-US" dirty="0"/>
                        <a:t>group by </a:t>
                      </a:r>
                      <a:r>
                        <a:rPr lang="en-US" dirty="0" err="1"/>
                        <a:t>j.jobdept</a:t>
                      </a:r>
                      <a:r>
                        <a:rPr lang="en-US" dirty="0"/>
                        <a:t>;</a:t>
                      </a:r>
                    </a:p>
                  </a:txBody>
                  <a:tcPr/>
                </a:tc>
                <a:extLst>
                  <a:ext uri="{0D108BD9-81ED-4DB2-BD59-A6C34878D82A}">
                    <a16:rowId xmlns:a16="http://schemas.microsoft.com/office/drawing/2014/main" val="370446795"/>
                  </a:ext>
                </a:extLst>
              </a:tr>
            </a:tbl>
          </a:graphicData>
        </a:graphic>
      </p:graphicFrame>
      <p:sp>
        <p:nvSpPr>
          <p:cNvPr id="8" name="TextBox 7">
            <a:extLst>
              <a:ext uri="{FF2B5EF4-FFF2-40B4-BE49-F238E27FC236}">
                <a16:creationId xmlns:a16="http://schemas.microsoft.com/office/drawing/2014/main" id="{584C556A-648C-406C-93F3-092E9C3B1E9A}"/>
              </a:ext>
            </a:extLst>
          </p:cNvPr>
          <p:cNvSpPr txBox="1"/>
          <p:nvPr/>
        </p:nvSpPr>
        <p:spPr>
          <a:xfrm>
            <a:off x="1511300" y="3736291"/>
            <a:ext cx="5702300" cy="338554"/>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D. Who are the top 5 highest-paid employees?</a:t>
            </a:r>
          </a:p>
        </p:txBody>
      </p:sp>
      <p:graphicFrame>
        <p:nvGraphicFramePr>
          <p:cNvPr id="9" name="Table 5">
            <a:extLst>
              <a:ext uri="{FF2B5EF4-FFF2-40B4-BE49-F238E27FC236}">
                <a16:creationId xmlns:a16="http://schemas.microsoft.com/office/drawing/2014/main" id="{6F0D19C3-B118-4F96-90C0-BE59124D6C08}"/>
              </a:ext>
            </a:extLst>
          </p:cNvPr>
          <p:cNvGraphicFramePr>
            <a:graphicFrameLocks noGrp="1"/>
          </p:cNvGraphicFramePr>
          <p:nvPr>
            <p:extLst>
              <p:ext uri="{D42A27DB-BD31-4B8C-83A1-F6EECF244321}">
                <p14:modId xmlns:p14="http://schemas.microsoft.com/office/powerpoint/2010/main" val="4226521648"/>
              </p:ext>
            </p:extLst>
          </p:nvPr>
        </p:nvGraphicFramePr>
        <p:xfrm>
          <a:off x="1511300" y="4213811"/>
          <a:ext cx="6223000" cy="1584960"/>
        </p:xfrm>
        <a:graphic>
          <a:graphicData uri="http://schemas.openxmlformats.org/drawingml/2006/table">
            <a:tbl>
              <a:tblPr firstRow="1" bandRow="1">
                <a:tableStyleId>{7DF18680-E054-41AD-8BC1-D1AEF772440D}</a:tableStyleId>
              </a:tblPr>
              <a:tblGrid>
                <a:gridCol w="6223000">
                  <a:extLst>
                    <a:ext uri="{9D8B030D-6E8A-4147-A177-3AD203B41FA5}">
                      <a16:colId xmlns:a16="http://schemas.microsoft.com/office/drawing/2014/main" val="644335605"/>
                    </a:ext>
                  </a:extLst>
                </a:gridCol>
              </a:tblGrid>
              <a:tr h="1403032">
                <a:tc>
                  <a:txBody>
                    <a:bodyPr/>
                    <a:lstStyle/>
                    <a:p>
                      <a:r>
                        <a:rPr lang="en-US" dirty="0"/>
                        <a:t>select </a:t>
                      </a:r>
                      <a:r>
                        <a:rPr lang="en-US" dirty="0" err="1"/>
                        <a:t>e.firstname</a:t>
                      </a:r>
                      <a:r>
                        <a:rPr lang="en-US" dirty="0"/>
                        <a:t>,</a:t>
                      </a:r>
                    </a:p>
                    <a:p>
                      <a:r>
                        <a:rPr lang="en-US" dirty="0" err="1"/>
                        <a:t>e.lastname</a:t>
                      </a:r>
                      <a:r>
                        <a:rPr lang="en-US" dirty="0"/>
                        <a:t>,</a:t>
                      </a:r>
                    </a:p>
                    <a:p>
                      <a:r>
                        <a:rPr lang="en-US" dirty="0"/>
                        <a:t> </a:t>
                      </a:r>
                      <a:r>
                        <a:rPr lang="en-US" dirty="0" err="1"/>
                        <a:t>sb.amount</a:t>
                      </a:r>
                      <a:endParaRPr lang="en-US" dirty="0"/>
                    </a:p>
                    <a:p>
                      <a:r>
                        <a:rPr lang="en-US" dirty="0"/>
                        <a:t>from Employee e</a:t>
                      </a:r>
                    </a:p>
                    <a:p>
                      <a:r>
                        <a:rPr lang="en-US" dirty="0"/>
                        <a:t>join </a:t>
                      </a:r>
                      <a:r>
                        <a:rPr lang="en-US" dirty="0" err="1"/>
                        <a:t>SalaryBonus</a:t>
                      </a:r>
                      <a:r>
                        <a:rPr lang="en-US" dirty="0"/>
                        <a:t> </a:t>
                      </a:r>
                      <a:r>
                        <a:rPr lang="en-US" dirty="0" err="1"/>
                        <a:t>sbon</a:t>
                      </a:r>
                      <a:r>
                        <a:rPr lang="en-US" dirty="0"/>
                        <a:t> </a:t>
                      </a:r>
                      <a:r>
                        <a:rPr lang="en-US" dirty="0" err="1"/>
                        <a:t>e.Job_ID</a:t>
                      </a:r>
                      <a:r>
                        <a:rPr lang="en-US" dirty="0"/>
                        <a:t> = </a:t>
                      </a:r>
                      <a:r>
                        <a:rPr lang="en-US" dirty="0" err="1"/>
                        <a:t>sb.Job_ID</a:t>
                      </a:r>
                      <a:endParaRPr lang="en-US" dirty="0"/>
                    </a:p>
                    <a:p>
                      <a:r>
                        <a:rPr lang="en-US" dirty="0"/>
                        <a:t>order by </a:t>
                      </a:r>
                      <a:r>
                        <a:rPr lang="en-US" dirty="0" err="1"/>
                        <a:t>sb.amount</a:t>
                      </a:r>
                      <a:r>
                        <a:rPr lang="en-US" dirty="0"/>
                        <a:t> desc</a:t>
                      </a:r>
                    </a:p>
                    <a:p>
                      <a:r>
                        <a:rPr lang="en-US" dirty="0"/>
                        <a:t>limit 5;</a:t>
                      </a:r>
                    </a:p>
                  </a:txBody>
                  <a:tcPr/>
                </a:tc>
                <a:extLst>
                  <a:ext uri="{0D108BD9-81ED-4DB2-BD59-A6C34878D82A}">
                    <a16:rowId xmlns:a16="http://schemas.microsoft.com/office/drawing/2014/main" val="370446795"/>
                  </a:ext>
                </a:extLst>
              </a:tr>
            </a:tbl>
          </a:graphicData>
        </a:graphic>
      </p:graphicFrame>
      <p:pic>
        <p:nvPicPr>
          <p:cNvPr id="10" name="Picture 9">
            <a:extLst>
              <a:ext uri="{FF2B5EF4-FFF2-40B4-BE49-F238E27FC236}">
                <a16:creationId xmlns:a16="http://schemas.microsoft.com/office/drawing/2014/main" id="{8CE842D6-D923-4FF1-B9B8-68C6FE117C24}"/>
              </a:ext>
            </a:extLst>
          </p:cNvPr>
          <p:cNvPicPr>
            <a:picLocks noChangeAspect="1"/>
          </p:cNvPicPr>
          <p:nvPr/>
        </p:nvPicPr>
        <p:blipFill>
          <a:blip r:embed="rId3"/>
          <a:stretch>
            <a:fillRect/>
          </a:stretch>
        </p:blipFill>
        <p:spPr>
          <a:xfrm>
            <a:off x="9023350" y="1824610"/>
            <a:ext cx="1952625" cy="1885950"/>
          </a:xfrm>
          <a:prstGeom prst="rect">
            <a:avLst/>
          </a:prstGeom>
        </p:spPr>
      </p:pic>
      <p:pic>
        <p:nvPicPr>
          <p:cNvPr id="13" name="Picture 12">
            <a:extLst>
              <a:ext uri="{FF2B5EF4-FFF2-40B4-BE49-F238E27FC236}">
                <a16:creationId xmlns:a16="http://schemas.microsoft.com/office/drawing/2014/main" id="{E5A882DE-7272-4766-9DBB-68160B013C6E}"/>
              </a:ext>
            </a:extLst>
          </p:cNvPr>
          <p:cNvPicPr>
            <a:picLocks noChangeAspect="1"/>
          </p:cNvPicPr>
          <p:nvPr/>
        </p:nvPicPr>
        <p:blipFill>
          <a:blip r:embed="rId4"/>
          <a:stretch>
            <a:fillRect/>
          </a:stretch>
        </p:blipFill>
        <p:spPr>
          <a:xfrm>
            <a:off x="9023350" y="4209607"/>
            <a:ext cx="2333625" cy="1352550"/>
          </a:xfrm>
          <a:prstGeom prst="rect">
            <a:avLst/>
          </a:prstGeom>
        </p:spPr>
      </p:pic>
    </p:spTree>
    <p:extLst>
      <p:ext uri="{BB962C8B-B14F-4D97-AF65-F5344CB8AC3E}">
        <p14:creationId xmlns:p14="http://schemas.microsoft.com/office/powerpoint/2010/main" val="1121763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2" descr="🔥 People Business PowerPoint Background Download | CBEditz">
            <a:extLst>
              <a:ext uri="{FF2B5EF4-FFF2-40B4-BE49-F238E27FC236}">
                <a16:creationId xmlns:a16="http://schemas.microsoft.com/office/drawing/2014/main" id="{5C5F7D7C-44B0-413B-AEE2-0556E1ABAAC8}"/>
              </a:ext>
            </a:extLst>
          </p:cNvPr>
          <p:cNvPicPr>
            <a:picLocks noChangeAspect="1" noChangeArrowheads="1"/>
          </p:cNvPicPr>
          <p:nvPr/>
        </p:nvPicPr>
        <p:blipFill>
          <a:blip r:embed="rId2">
            <a:alphaModFix amt="22000"/>
            <a:extLst>
              <a:ext uri="{28A0092B-C50C-407E-A947-70E740481C1C}">
                <a14:useLocalDpi xmlns:a14="http://schemas.microsoft.com/office/drawing/2010/main" val="0"/>
              </a:ext>
            </a:extLst>
          </a:blip>
          <a:srcRect/>
          <a:stretch>
            <a:fillRect/>
          </a:stretch>
        </p:blipFill>
        <p:spPr bwMode="auto">
          <a:xfrm>
            <a:off x="0" y="1"/>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C7590DA7-7487-47C8-B7AB-0B1EF2CC0299}"/>
              </a:ext>
            </a:extLst>
          </p:cNvPr>
          <p:cNvSpPr>
            <a:spLocks noGrp="1"/>
          </p:cNvSpPr>
          <p:nvPr>
            <p:ph type="title"/>
          </p:nvPr>
        </p:nvSpPr>
        <p:spPr>
          <a:xfrm>
            <a:off x="266700" y="0"/>
            <a:ext cx="10515600" cy="1325563"/>
          </a:xfrm>
        </p:spPr>
        <p:txBody>
          <a:bodyPr/>
          <a:lstStyle/>
          <a:p>
            <a:r>
              <a:rPr lang="en-US" b="1" dirty="0">
                <a:solidFill>
                  <a:srgbClr val="FF0000"/>
                </a:solidFill>
                <a:latin typeface="Times New Roman" panose="02020603050405020304" pitchFamily="18" charset="0"/>
                <a:cs typeface="Times New Roman" panose="02020603050405020304" pitchFamily="18" charset="0"/>
              </a:rPr>
              <a:t>ANALYSIS</a:t>
            </a:r>
          </a:p>
        </p:txBody>
      </p:sp>
      <p:sp>
        <p:nvSpPr>
          <p:cNvPr id="3" name="TextBox 2">
            <a:extLst>
              <a:ext uri="{FF2B5EF4-FFF2-40B4-BE49-F238E27FC236}">
                <a16:creationId xmlns:a16="http://schemas.microsoft.com/office/drawing/2014/main" id="{F38C0B67-DB00-4600-ADA8-E317B43AECA2}"/>
              </a:ext>
            </a:extLst>
          </p:cNvPr>
          <p:cNvSpPr txBox="1"/>
          <p:nvPr/>
        </p:nvSpPr>
        <p:spPr>
          <a:xfrm>
            <a:off x="1200150" y="1325563"/>
            <a:ext cx="6032500" cy="492443"/>
          </a:xfrm>
          <a:prstGeom prst="rect">
            <a:avLst/>
          </a:prstGeom>
          <a:noFill/>
        </p:spPr>
        <p:txBody>
          <a:bodyPr wrap="square" rtlCol="0">
            <a:spAutoFit/>
          </a:bodyPr>
          <a:lstStyle/>
          <a:p>
            <a:r>
              <a:rPr lang="en-US" sz="2600" b="1" i="0" u="none" strike="noStrike" dirty="0">
                <a:solidFill>
                  <a:srgbClr val="000000"/>
                </a:solidFill>
                <a:effectLst/>
                <a:latin typeface="Times New Roman" panose="02020603050405020304" pitchFamily="18" charset="0"/>
                <a:cs typeface="Times New Roman" panose="02020603050405020304" pitchFamily="18" charset="0"/>
              </a:rPr>
              <a:t>1. EMPLOYEE INSIGHTS</a:t>
            </a:r>
            <a:endParaRPr lang="en-US" sz="26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3217E4F2-A74D-4604-B4D1-689A455C54E8}"/>
              </a:ext>
            </a:extLst>
          </p:cNvPr>
          <p:cNvSpPr txBox="1"/>
          <p:nvPr/>
        </p:nvSpPr>
        <p:spPr>
          <a:xfrm>
            <a:off x="3340100" y="2413221"/>
            <a:ext cx="5410200" cy="338554"/>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E. What is the total salary expenditure across the company?</a:t>
            </a:r>
          </a:p>
        </p:txBody>
      </p:sp>
      <p:graphicFrame>
        <p:nvGraphicFramePr>
          <p:cNvPr id="5" name="Table 5">
            <a:extLst>
              <a:ext uri="{FF2B5EF4-FFF2-40B4-BE49-F238E27FC236}">
                <a16:creationId xmlns:a16="http://schemas.microsoft.com/office/drawing/2014/main" id="{7692B7F1-72B7-4924-9AEB-BA3D824D02C5}"/>
              </a:ext>
            </a:extLst>
          </p:cNvPr>
          <p:cNvGraphicFramePr>
            <a:graphicFrameLocks noGrp="1"/>
          </p:cNvGraphicFramePr>
          <p:nvPr>
            <p:extLst>
              <p:ext uri="{D42A27DB-BD31-4B8C-83A1-F6EECF244321}">
                <p14:modId xmlns:p14="http://schemas.microsoft.com/office/powerpoint/2010/main" val="2442358540"/>
              </p:ext>
            </p:extLst>
          </p:nvPr>
        </p:nvGraphicFramePr>
        <p:xfrm>
          <a:off x="3340100" y="3143569"/>
          <a:ext cx="5511800" cy="944880"/>
        </p:xfrm>
        <a:graphic>
          <a:graphicData uri="http://schemas.openxmlformats.org/drawingml/2006/table">
            <a:tbl>
              <a:tblPr firstRow="1" bandRow="1">
                <a:tableStyleId>{7DF18680-E054-41AD-8BC1-D1AEF772440D}</a:tableStyleId>
              </a:tblPr>
              <a:tblGrid>
                <a:gridCol w="5511800">
                  <a:extLst>
                    <a:ext uri="{9D8B030D-6E8A-4147-A177-3AD203B41FA5}">
                      <a16:colId xmlns:a16="http://schemas.microsoft.com/office/drawing/2014/main" val="644335605"/>
                    </a:ext>
                  </a:extLst>
                </a:gridCol>
              </a:tblGrid>
              <a:tr h="359834">
                <a:tc>
                  <a:txBody>
                    <a:bodyPr/>
                    <a:lstStyle/>
                    <a:p>
                      <a:r>
                        <a:rPr lang="en-US" dirty="0"/>
                        <a:t>select sum(</a:t>
                      </a:r>
                      <a:r>
                        <a:rPr lang="en-US" dirty="0" err="1"/>
                        <a:t>s.amount</a:t>
                      </a:r>
                      <a:r>
                        <a:rPr lang="en-US" dirty="0"/>
                        <a:t>) as </a:t>
                      </a:r>
                      <a:r>
                        <a:rPr lang="en-US" dirty="0" err="1"/>
                        <a:t>total_salary_expenditure</a:t>
                      </a:r>
                      <a:r>
                        <a:rPr lang="en-US" dirty="0"/>
                        <a:t> from employee e</a:t>
                      </a:r>
                    </a:p>
                    <a:p>
                      <a:r>
                        <a:rPr lang="en-US" dirty="0"/>
                        <a:t>join </a:t>
                      </a:r>
                      <a:r>
                        <a:rPr lang="en-US" dirty="0" err="1"/>
                        <a:t>salarybonus</a:t>
                      </a:r>
                      <a:r>
                        <a:rPr lang="en-US" dirty="0"/>
                        <a:t> s</a:t>
                      </a:r>
                    </a:p>
                    <a:p>
                      <a:r>
                        <a:rPr lang="en-US" dirty="0"/>
                        <a:t>on </a:t>
                      </a:r>
                      <a:r>
                        <a:rPr lang="en-US" dirty="0" err="1"/>
                        <a:t>e.job_id</a:t>
                      </a:r>
                      <a:r>
                        <a:rPr lang="en-US" dirty="0"/>
                        <a:t> = </a:t>
                      </a:r>
                      <a:r>
                        <a:rPr lang="en-US" dirty="0" err="1"/>
                        <a:t>s.job_id</a:t>
                      </a:r>
                      <a:r>
                        <a:rPr lang="en-US" dirty="0"/>
                        <a:t>;</a:t>
                      </a:r>
                    </a:p>
                  </a:txBody>
                  <a:tcPr/>
                </a:tc>
                <a:extLst>
                  <a:ext uri="{0D108BD9-81ED-4DB2-BD59-A6C34878D82A}">
                    <a16:rowId xmlns:a16="http://schemas.microsoft.com/office/drawing/2014/main" val="370446795"/>
                  </a:ext>
                </a:extLst>
              </a:tr>
            </a:tbl>
          </a:graphicData>
        </a:graphic>
      </p:graphicFrame>
      <p:pic>
        <p:nvPicPr>
          <p:cNvPr id="7" name="Picture 6">
            <a:extLst>
              <a:ext uri="{FF2B5EF4-FFF2-40B4-BE49-F238E27FC236}">
                <a16:creationId xmlns:a16="http://schemas.microsoft.com/office/drawing/2014/main" id="{1264067E-99B6-4368-9664-B77B557A7FF0}"/>
              </a:ext>
            </a:extLst>
          </p:cNvPr>
          <p:cNvPicPr>
            <a:picLocks noChangeAspect="1"/>
          </p:cNvPicPr>
          <p:nvPr/>
        </p:nvPicPr>
        <p:blipFill>
          <a:blip r:embed="rId3"/>
          <a:stretch>
            <a:fillRect/>
          </a:stretch>
        </p:blipFill>
        <p:spPr>
          <a:xfrm>
            <a:off x="4819294" y="4381963"/>
            <a:ext cx="2553412" cy="727508"/>
          </a:xfrm>
          <a:prstGeom prst="rect">
            <a:avLst/>
          </a:prstGeom>
        </p:spPr>
      </p:pic>
    </p:spTree>
    <p:extLst>
      <p:ext uri="{BB962C8B-B14F-4D97-AF65-F5344CB8AC3E}">
        <p14:creationId xmlns:p14="http://schemas.microsoft.com/office/powerpoint/2010/main" val="32480855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2" descr="🔥 People Business PowerPoint Background Download | CBEditz">
            <a:extLst>
              <a:ext uri="{FF2B5EF4-FFF2-40B4-BE49-F238E27FC236}">
                <a16:creationId xmlns:a16="http://schemas.microsoft.com/office/drawing/2014/main" id="{DACA113B-04A7-4C87-A248-F4EB6C88BE08}"/>
              </a:ext>
            </a:extLst>
          </p:cNvPr>
          <p:cNvPicPr>
            <a:picLocks noChangeAspect="1" noChangeArrowheads="1"/>
          </p:cNvPicPr>
          <p:nvPr/>
        </p:nvPicPr>
        <p:blipFill>
          <a:blip r:embed="rId2">
            <a:alphaModFix amt="22000"/>
            <a:extLst>
              <a:ext uri="{28A0092B-C50C-407E-A947-70E740481C1C}">
                <a14:useLocalDpi xmlns:a14="http://schemas.microsoft.com/office/drawing/2010/main" val="0"/>
              </a:ext>
            </a:extLst>
          </a:blip>
          <a:srcRect/>
          <a:stretch>
            <a:fillRect/>
          </a:stretch>
        </p:blipFill>
        <p:spPr bwMode="auto">
          <a:xfrm>
            <a:off x="0" y="1"/>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C7590DA7-7487-47C8-B7AB-0B1EF2CC0299}"/>
              </a:ext>
            </a:extLst>
          </p:cNvPr>
          <p:cNvSpPr>
            <a:spLocks noGrp="1"/>
          </p:cNvSpPr>
          <p:nvPr>
            <p:ph type="title"/>
          </p:nvPr>
        </p:nvSpPr>
        <p:spPr>
          <a:xfrm>
            <a:off x="266700" y="0"/>
            <a:ext cx="10515600" cy="1325563"/>
          </a:xfrm>
        </p:spPr>
        <p:txBody>
          <a:bodyPr/>
          <a:lstStyle/>
          <a:p>
            <a:r>
              <a:rPr lang="en-US" b="1" dirty="0">
                <a:solidFill>
                  <a:srgbClr val="FF0000"/>
                </a:solidFill>
                <a:latin typeface="Times New Roman" panose="02020603050405020304" pitchFamily="18" charset="0"/>
                <a:cs typeface="Times New Roman" panose="02020603050405020304" pitchFamily="18" charset="0"/>
              </a:rPr>
              <a:t>ANALYSIS</a:t>
            </a:r>
          </a:p>
        </p:txBody>
      </p:sp>
      <p:sp>
        <p:nvSpPr>
          <p:cNvPr id="3" name="TextBox 2">
            <a:extLst>
              <a:ext uri="{FF2B5EF4-FFF2-40B4-BE49-F238E27FC236}">
                <a16:creationId xmlns:a16="http://schemas.microsoft.com/office/drawing/2014/main" id="{F38C0B67-DB00-4600-ADA8-E317B43AECA2}"/>
              </a:ext>
            </a:extLst>
          </p:cNvPr>
          <p:cNvSpPr txBox="1"/>
          <p:nvPr/>
        </p:nvSpPr>
        <p:spPr>
          <a:xfrm>
            <a:off x="1200150" y="1325563"/>
            <a:ext cx="7669530" cy="492443"/>
          </a:xfrm>
          <a:prstGeom prst="rect">
            <a:avLst/>
          </a:prstGeom>
          <a:noFill/>
        </p:spPr>
        <p:txBody>
          <a:bodyPr wrap="square" rtlCol="0">
            <a:spAutoFit/>
          </a:bodyPr>
          <a:lstStyle/>
          <a:p>
            <a:r>
              <a:rPr lang="en-US" sz="2600" b="1" dirty="0">
                <a:latin typeface="Times New Roman" panose="02020603050405020304" pitchFamily="18" charset="0"/>
                <a:cs typeface="Times New Roman" panose="02020603050405020304" pitchFamily="18" charset="0"/>
              </a:rPr>
              <a:t>2. JOB ROLE AND DEPARTMENT ANALYSIS</a:t>
            </a:r>
            <a:endParaRPr lang="en-US" sz="26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3217E4F2-A74D-4604-B4D1-689A455C54E8}"/>
              </a:ext>
            </a:extLst>
          </p:cNvPr>
          <p:cNvSpPr txBox="1"/>
          <p:nvPr/>
        </p:nvSpPr>
        <p:spPr>
          <a:xfrm>
            <a:off x="1511300" y="1956972"/>
            <a:ext cx="5410200" cy="338554"/>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A. How many different job roles exist in each department?</a:t>
            </a:r>
          </a:p>
        </p:txBody>
      </p:sp>
      <p:graphicFrame>
        <p:nvGraphicFramePr>
          <p:cNvPr id="5" name="Table 5">
            <a:extLst>
              <a:ext uri="{FF2B5EF4-FFF2-40B4-BE49-F238E27FC236}">
                <a16:creationId xmlns:a16="http://schemas.microsoft.com/office/drawing/2014/main" id="{7692B7F1-72B7-4924-9AEB-BA3D824D02C5}"/>
              </a:ext>
            </a:extLst>
          </p:cNvPr>
          <p:cNvGraphicFramePr>
            <a:graphicFrameLocks noGrp="1"/>
          </p:cNvGraphicFramePr>
          <p:nvPr>
            <p:extLst>
              <p:ext uri="{D42A27DB-BD31-4B8C-83A1-F6EECF244321}">
                <p14:modId xmlns:p14="http://schemas.microsoft.com/office/powerpoint/2010/main" val="3256119376"/>
              </p:ext>
            </p:extLst>
          </p:nvPr>
        </p:nvGraphicFramePr>
        <p:xfrm>
          <a:off x="1511300" y="2434492"/>
          <a:ext cx="5511800" cy="731520"/>
        </p:xfrm>
        <a:graphic>
          <a:graphicData uri="http://schemas.openxmlformats.org/drawingml/2006/table">
            <a:tbl>
              <a:tblPr firstRow="1" bandRow="1">
                <a:tableStyleId>{7DF18680-E054-41AD-8BC1-D1AEF772440D}</a:tableStyleId>
              </a:tblPr>
              <a:tblGrid>
                <a:gridCol w="5511800">
                  <a:extLst>
                    <a:ext uri="{9D8B030D-6E8A-4147-A177-3AD203B41FA5}">
                      <a16:colId xmlns:a16="http://schemas.microsoft.com/office/drawing/2014/main" val="644335605"/>
                    </a:ext>
                  </a:extLst>
                </a:gridCol>
              </a:tblGrid>
              <a:tr h="359834">
                <a:tc>
                  <a:txBody>
                    <a:bodyPr/>
                    <a:lstStyle/>
                    <a:p>
                      <a:r>
                        <a:rPr lang="en-US" dirty="0"/>
                        <a:t>select </a:t>
                      </a:r>
                      <a:r>
                        <a:rPr lang="en-US" dirty="0" err="1"/>
                        <a:t>jobdept,count</a:t>
                      </a:r>
                      <a:r>
                        <a:rPr lang="en-US" dirty="0"/>
                        <a:t>(name) as </a:t>
                      </a:r>
                      <a:r>
                        <a:rPr lang="en-US" dirty="0" err="1"/>
                        <a:t>total_job_roles</a:t>
                      </a:r>
                      <a:r>
                        <a:rPr lang="en-US" dirty="0"/>
                        <a:t> from </a:t>
                      </a:r>
                      <a:r>
                        <a:rPr lang="en-US" dirty="0" err="1"/>
                        <a:t>jobdepartment</a:t>
                      </a:r>
                      <a:endParaRPr lang="en-US" dirty="0"/>
                    </a:p>
                    <a:p>
                      <a:r>
                        <a:rPr lang="en-US" dirty="0"/>
                        <a:t>group by </a:t>
                      </a:r>
                      <a:r>
                        <a:rPr lang="en-US" dirty="0" err="1"/>
                        <a:t>jobdept</a:t>
                      </a:r>
                      <a:r>
                        <a:rPr lang="en-US" dirty="0"/>
                        <a:t>;</a:t>
                      </a:r>
                    </a:p>
                  </a:txBody>
                  <a:tcPr/>
                </a:tc>
                <a:extLst>
                  <a:ext uri="{0D108BD9-81ED-4DB2-BD59-A6C34878D82A}">
                    <a16:rowId xmlns:a16="http://schemas.microsoft.com/office/drawing/2014/main" val="370446795"/>
                  </a:ext>
                </a:extLst>
              </a:tr>
            </a:tbl>
          </a:graphicData>
        </a:graphic>
      </p:graphicFrame>
      <p:sp>
        <p:nvSpPr>
          <p:cNvPr id="8" name="TextBox 7">
            <a:extLst>
              <a:ext uri="{FF2B5EF4-FFF2-40B4-BE49-F238E27FC236}">
                <a16:creationId xmlns:a16="http://schemas.microsoft.com/office/drawing/2014/main" id="{584C556A-648C-406C-93F3-092E9C3B1E9A}"/>
              </a:ext>
            </a:extLst>
          </p:cNvPr>
          <p:cNvSpPr txBox="1"/>
          <p:nvPr/>
        </p:nvSpPr>
        <p:spPr>
          <a:xfrm>
            <a:off x="1511300" y="3736291"/>
            <a:ext cx="5702300" cy="338554"/>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B. What is the average salary range per department?</a:t>
            </a:r>
          </a:p>
        </p:txBody>
      </p:sp>
      <p:graphicFrame>
        <p:nvGraphicFramePr>
          <p:cNvPr id="9" name="Table 5">
            <a:extLst>
              <a:ext uri="{FF2B5EF4-FFF2-40B4-BE49-F238E27FC236}">
                <a16:creationId xmlns:a16="http://schemas.microsoft.com/office/drawing/2014/main" id="{6F0D19C3-B118-4F96-90C0-BE59124D6C08}"/>
              </a:ext>
            </a:extLst>
          </p:cNvPr>
          <p:cNvGraphicFramePr>
            <a:graphicFrameLocks noGrp="1"/>
          </p:cNvGraphicFramePr>
          <p:nvPr>
            <p:extLst>
              <p:ext uri="{D42A27DB-BD31-4B8C-83A1-F6EECF244321}">
                <p14:modId xmlns:p14="http://schemas.microsoft.com/office/powerpoint/2010/main" val="3301679321"/>
              </p:ext>
            </p:extLst>
          </p:nvPr>
        </p:nvGraphicFramePr>
        <p:xfrm>
          <a:off x="1511300" y="4213811"/>
          <a:ext cx="6223000" cy="1403032"/>
        </p:xfrm>
        <a:graphic>
          <a:graphicData uri="http://schemas.openxmlformats.org/drawingml/2006/table">
            <a:tbl>
              <a:tblPr firstRow="1" bandRow="1">
                <a:tableStyleId>{7DF18680-E054-41AD-8BC1-D1AEF772440D}</a:tableStyleId>
              </a:tblPr>
              <a:tblGrid>
                <a:gridCol w="6223000">
                  <a:extLst>
                    <a:ext uri="{9D8B030D-6E8A-4147-A177-3AD203B41FA5}">
                      <a16:colId xmlns:a16="http://schemas.microsoft.com/office/drawing/2014/main" val="644335605"/>
                    </a:ext>
                  </a:extLst>
                </a:gridCol>
              </a:tblGrid>
              <a:tr h="1403032">
                <a:tc>
                  <a:txBody>
                    <a:bodyPr/>
                    <a:lstStyle/>
                    <a:p>
                      <a:r>
                        <a:rPr lang="en-US" dirty="0"/>
                        <a:t>select </a:t>
                      </a:r>
                      <a:r>
                        <a:rPr lang="en-US" dirty="0" err="1"/>
                        <a:t>jd.jobdept</a:t>
                      </a:r>
                      <a:r>
                        <a:rPr lang="en-US" dirty="0"/>
                        <a:t>,</a:t>
                      </a:r>
                    </a:p>
                    <a:p>
                      <a:r>
                        <a:rPr lang="en-US" dirty="0"/>
                        <a:t>avg(</a:t>
                      </a:r>
                      <a:r>
                        <a:rPr lang="en-US" dirty="0" err="1"/>
                        <a:t>sb.amount</a:t>
                      </a:r>
                      <a:r>
                        <a:rPr lang="en-US" dirty="0"/>
                        <a:t>) as </a:t>
                      </a:r>
                      <a:r>
                        <a:rPr lang="en-US" dirty="0" err="1"/>
                        <a:t>avg_salary</a:t>
                      </a:r>
                      <a:endParaRPr lang="en-US" dirty="0"/>
                    </a:p>
                    <a:p>
                      <a:r>
                        <a:rPr lang="en-US" dirty="0"/>
                        <a:t>from </a:t>
                      </a:r>
                      <a:r>
                        <a:rPr lang="en-US" dirty="0" err="1"/>
                        <a:t>JobDepartment</a:t>
                      </a:r>
                      <a:r>
                        <a:rPr lang="en-US" dirty="0"/>
                        <a:t> </a:t>
                      </a:r>
                      <a:r>
                        <a:rPr lang="en-US" dirty="0" err="1"/>
                        <a:t>jd</a:t>
                      </a:r>
                      <a:endParaRPr lang="en-US" dirty="0"/>
                    </a:p>
                    <a:p>
                      <a:r>
                        <a:rPr lang="en-US" dirty="0"/>
                        <a:t>join </a:t>
                      </a:r>
                      <a:r>
                        <a:rPr lang="en-US" dirty="0" err="1"/>
                        <a:t>SalaryBonus</a:t>
                      </a:r>
                      <a:r>
                        <a:rPr lang="en-US" dirty="0"/>
                        <a:t> sb</a:t>
                      </a:r>
                    </a:p>
                    <a:p>
                      <a:r>
                        <a:rPr lang="en-US" dirty="0"/>
                        <a:t>on </a:t>
                      </a:r>
                      <a:r>
                        <a:rPr lang="en-US" dirty="0" err="1"/>
                        <a:t>jd.Job_ID</a:t>
                      </a:r>
                      <a:r>
                        <a:rPr lang="en-US" dirty="0"/>
                        <a:t> = </a:t>
                      </a:r>
                      <a:r>
                        <a:rPr lang="en-US" dirty="0" err="1"/>
                        <a:t>sb.Job_ID</a:t>
                      </a:r>
                      <a:endParaRPr lang="en-US" dirty="0"/>
                    </a:p>
                    <a:p>
                      <a:r>
                        <a:rPr lang="en-US" dirty="0"/>
                        <a:t>group by </a:t>
                      </a:r>
                      <a:r>
                        <a:rPr lang="en-US" dirty="0" err="1"/>
                        <a:t>jd.jobdept</a:t>
                      </a:r>
                      <a:r>
                        <a:rPr lang="en-US" dirty="0"/>
                        <a:t>;</a:t>
                      </a:r>
                    </a:p>
                  </a:txBody>
                  <a:tcPr/>
                </a:tc>
                <a:extLst>
                  <a:ext uri="{0D108BD9-81ED-4DB2-BD59-A6C34878D82A}">
                    <a16:rowId xmlns:a16="http://schemas.microsoft.com/office/drawing/2014/main" val="370446795"/>
                  </a:ext>
                </a:extLst>
              </a:tr>
            </a:tbl>
          </a:graphicData>
        </a:graphic>
      </p:graphicFrame>
      <p:pic>
        <p:nvPicPr>
          <p:cNvPr id="10" name="Picture 9">
            <a:extLst>
              <a:ext uri="{FF2B5EF4-FFF2-40B4-BE49-F238E27FC236}">
                <a16:creationId xmlns:a16="http://schemas.microsoft.com/office/drawing/2014/main" id="{7BA7D3AA-906D-4927-9580-176E2FE5C90E}"/>
              </a:ext>
            </a:extLst>
          </p:cNvPr>
          <p:cNvPicPr>
            <a:picLocks noChangeAspect="1"/>
          </p:cNvPicPr>
          <p:nvPr/>
        </p:nvPicPr>
        <p:blipFill>
          <a:blip r:embed="rId3"/>
          <a:stretch>
            <a:fillRect/>
          </a:stretch>
        </p:blipFill>
        <p:spPr>
          <a:xfrm>
            <a:off x="9023350" y="1852514"/>
            <a:ext cx="2000250" cy="1895475"/>
          </a:xfrm>
          <a:prstGeom prst="rect">
            <a:avLst/>
          </a:prstGeom>
        </p:spPr>
      </p:pic>
      <p:pic>
        <p:nvPicPr>
          <p:cNvPr id="12" name="Picture 11">
            <a:extLst>
              <a:ext uri="{FF2B5EF4-FFF2-40B4-BE49-F238E27FC236}">
                <a16:creationId xmlns:a16="http://schemas.microsoft.com/office/drawing/2014/main" id="{369EC6F2-1186-438B-92AF-E67D77F40CE2}"/>
              </a:ext>
            </a:extLst>
          </p:cNvPr>
          <p:cNvPicPr>
            <a:picLocks noChangeAspect="1"/>
          </p:cNvPicPr>
          <p:nvPr/>
        </p:nvPicPr>
        <p:blipFill>
          <a:blip r:embed="rId4"/>
          <a:stretch>
            <a:fillRect/>
          </a:stretch>
        </p:blipFill>
        <p:spPr>
          <a:xfrm>
            <a:off x="9023350" y="3958064"/>
            <a:ext cx="1962150" cy="1914525"/>
          </a:xfrm>
          <a:prstGeom prst="rect">
            <a:avLst/>
          </a:prstGeom>
        </p:spPr>
      </p:pic>
    </p:spTree>
    <p:extLst>
      <p:ext uri="{BB962C8B-B14F-4D97-AF65-F5344CB8AC3E}">
        <p14:creationId xmlns:p14="http://schemas.microsoft.com/office/powerpoint/2010/main" val="25063059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2" descr="🔥 People Business PowerPoint Background Download | CBEditz">
            <a:extLst>
              <a:ext uri="{FF2B5EF4-FFF2-40B4-BE49-F238E27FC236}">
                <a16:creationId xmlns:a16="http://schemas.microsoft.com/office/drawing/2014/main" id="{2CF0AB0C-172C-4AD1-B473-2353DC4D4F05}"/>
              </a:ext>
            </a:extLst>
          </p:cNvPr>
          <p:cNvPicPr>
            <a:picLocks noChangeAspect="1" noChangeArrowheads="1"/>
          </p:cNvPicPr>
          <p:nvPr/>
        </p:nvPicPr>
        <p:blipFill>
          <a:blip r:embed="rId2">
            <a:alphaModFix amt="22000"/>
            <a:extLst>
              <a:ext uri="{28A0092B-C50C-407E-A947-70E740481C1C}">
                <a14:useLocalDpi xmlns:a14="http://schemas.microsoft.com/office/drawing/2010/main" val="0"/>
              </a:ext>
            </a:extLst>
          </a:blip>
          <a:srcRect/>
          <a:stretch>
            <a:fillRect/>
          </a:stretch>
        </p:blipFill>
        <p:spPr bwMode="auto">
          <a:xfrm>
            <a:off x="0" y="1"/>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C7590DA7-7487-47C8-B7AB-0B1EF2CC0299}"/>
              </a:ext>
            </a:extLst>
          </p:cNvPr>
          <p:cNvSpPr>
            <a:spLocks noGrp="1"/>
          </p:cNvSpPr>
          <p:nvPr>
            <p:ph type="title"/>
          </p:nvPr>
        </p:nvSpPr>
        <p:spPr>
          <a:xfrm>
            <a:off x="266700" y="0"/>
            <a:ext cx="10515600" cy="1325563"/>
          </a:xfrm>
        </p:spPr>
        <p:txBody>
          <a:bodyPr/>
          <a:lstStyle/>
          <a:p>
            <a:r>
              <a:rPr lang="en-US" b="1" dirty="0">
                <a:solidFill>
                  <a:srgbClr val="FF0000"/>
                </a:solidFill>
                <a:latin typeface="Times New Roman" panose="02020603050405020304" pitchFamily="18" charset="0"/>
                <a:cs typeface="Times New Roman" panose="02020603050405020304" pitchFamily="18" charset="0"/>
              </a:rPr>
              <a:t>ANALYSIS</a:t>
            </a:r>
          </a:p>
        </p:txBody>
      </p:sp>
      <p:sp>
        <p:nvSpPr>
          <p:cNvPr id="3" name="TextBox 2">
            <a:extLst>
              <a:ext uri="{FF2B5EF4-FFF2-40B4-BE49-F238E27FC236}">
                <a16:creationId xmlns:a16="http://schemas.microsoft.com/office/drawing/2014/main" id="{F38C0B67-DB00-4600-ADA8-E317B43AECA2}"/>
              </a:ext>
            </a:extLst>
          </p:cNvPr>
          <p:cNvSpPr txBox="1"/>
          <p:nvPr/>
        </p:nvSpPr>
        <p:spPr>
          <a:xfrm>
            <a:off x="1200150" y="1325563"/>
            <a:ext cx="7669530" cy="492443"/>
          </a:xfrm>
          <a:prstGeom prst="rect">
            <a:avLst/>
          </a:prstGeom>
          <a:noFill/>
        </p:spPr>
        <p:txBody>
          <a:bodyPr wrap="square" rtlCol="0">
            <a:spAutoFit/>
          </a:bodyPr>
          <a:lstStyle/>
          <a:p>
            <a:r>
              <a:rPr lang="en-US" sz="2600" b="1" dirty="0">
                <a:latin typeface="Times New Roman" panose="02020603050405020304" pitchFamily="18" charset="0"/>
                <a:cs typeface="Times New Roman" panose="02020603050405020304" pitchFamily="18" charset="0"/>
              </a:rPr>
              <a:t>2. JOB ROLE AND DEPARTMENT ANALYSIS</a:t>
            </a:r>
            <a:endParaRPr lang="en-US" sz="26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3217E4F2-A74D-4604-B4D1-689A455C54E8}"/>
              </a:ext>
            </a:extLst>
          </p:cNvPr>
          <p:cNvSpPr txBox="1"/>
          <p:nvPr/>
        </p:nvSpPr>
        <p:spPr>
          <a:xfrm>
            <a:off x="1511300" y="1956972"/>
            <a:ext cx="5410200" cy="338554"/>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C. Which job roles offer the highest salary?</a:t>
            </a:r>
          </a:p>
        </p:txBody>
      </p:sp>
      <p:graphicFrame>
        <p:nvGraphicFramePr>
          <p:cNvPr id="5" name="Table 5">
            <a:extLst>
              <a:ext uri="{FF2B5EF4-FFF2-40B4-BE49-F238E27FC236}">
                <a16:creationId xmlns:a16="http://schemas.microsoft.com/office/drawing/2014/main" id="{7692B7F1-72B7-4924-9AEB-BA3D824D02C5}"/>
              </a:ext>
            </a:extLst>
          </p:cNvPr>
          <p:cNvGraphicFramePr>
            <a:graphicFrameLocks noGrp="1"/>
          </p:cNvGraphicFramePr>
          <p:nvPr>
            <p:extLst>
              <p:ext uri="{D42A27DB-BD31-4B8C-83A1-F6EECF244321}">
                <p14:modId xmlns:p14="http://schemas.microsoft.com/office/powerpoint/2010/main" val="1612335193"/>
              </p:ext>
            </p:extLst>
          </p:nvPr>
        </p:nvGraphicFramePr>
        <p:xfrm>
          <a:off x="1511300" y="2434492"/>
          <a:ext cx="5511800" cy="944880"/>
        </p:xfrm>
        <a:graphic>
          <a:graphicData uri="http://schemas.openxmlformats.org/drawingml/2006/table">
            <a:tbl>
              <a:tblPr firstRow="1" bandRow="1">
                <a:tableStyleId>{7DF18680-E054-41AD-8BC1-D1AEF772440D}</a:tableStyleId>
              </a:tblPr>
              <a:tblGrid>
                <a:gridCol w="5511800">
                  <a:extLst>
                    <a:ext uri="{9D8B030D-6E8A-4147-A177-3AD203B41FA5}">
                      <a16:colId xmlns:a16="http://schemas.microsoft.com/office/drawing/2014/main" val="644335605"/>
                    </a:ext>
                  </a:extLst>
                </a:gridCol>
              </a:tblGrid>
              <a:tr h="359834">
                <a:tc>
                  <a:txBody>
                    <a:bodyPr/>
                    <a:lstStyle/>
                    <a:p>
                      <a:r>
                        <a:rPr lang="en-US" dirty="0"/>
                        <a:t>select </a:t>
                      </a:r>
                      <a:r>
                        <a:rPr lang="en-US" dirty="0" err="1"/>
                        <a:t>j.name,s.amount</a:t>
                      </a:r>
                      <a:r>
                        <a:rPr lang="en-US" dirty="0"/>
                        <a:t>  from </a:t>
                      </a:r>
                      <a:r>
                        <a:rPr lang="en-US" dirty="0" err="1"/>
                        <a:t>jobdepartment</a:t>
                      </a:r>
                      <a:r>
                        <a:rPr lang="en-US" dirty="0"/>
                        <a:t> j</a:t>
                      </a:r>
                    </a:p>
                    <a:p>
                      <a:r>
                        <a:rPr lang="en-US" dirty="0"/>
                        <a:t>join </a:t>
                      </a:r>
                      <a:r>
                        <a:rPr lang="en-US" dirty="0" err="1"/>
                        <a:t>salarybonus</a:t>
                      </a:r>
                      <a:r>
                        <a:rPr lang="en-US" dirty="0"/>
                        <a:t> s</a:t>
                      </a:r>
                    </a:p>
                    <a:p>
                      <a:r>
                        <a:rPr lang="en-US" dirty="0"/>
                        <a:t>on </a:t>
                      </a:r>
                      <a:r>
                        <a:rPr lang="en-US" dirty="0" err="1"/>
                        <a:t>j.job_id</a:t>
                      </a:r>
                      <a:r>
                        <a:rPr lang="en-US" dirty="0"/>
                        <a:t> = </a:t>
                      </a:r>
                      <a:r>
                        <a:rPr lang="en-US" dirty="0" err="1"/>
                        <a:t>s.job_id</a:t>
                      </a:r>
                      <a:endParaRPr lang="en-US" dirty="0"/>
                    </a:p>
                    <a:p>
                      <a:r>
                        <a:rPr lang="en-US" dirty="0"/>
                        <a:t>where </a:t>
                      </a:r>
                      <a:r>
                        <a:rPr lang="en-US" dirty="0" err="1"/>
                        <a:t>s.amount</a:t>
                      </a:r>
                      <a:r>
                        <a:rPr lang="en-US" dirty="0"/>
                        <a:t> = (select max(amount) from </a:t>
                      </a:r>
                      <a:r>
                        <a:rPr lang="en-US" dirty="0" err="1"/>
                        <a:t>salarybonus</a:t>
                      </a:r>
                      <a:r>
                        <a:rPr lang="en-US" dirty="0"/>
                        <a:t>);</a:t>
                      </a:r>
                    </a:p>
                  </a:txBody>
                  <a:tcPr/>
                </a:tc>
                <a:extLst>
                  <a:ext uri="{0D108BD9-81ED-4DB2-BD59-A6C34878D82A}">
                    <a16:rowId xmlns:a16="http://schemas.microsoft.com/office/drawing/2014/main" val="370446795"/>
                  </a:ext>
                </a:extLst>
              </a:tr>
            </a:tbl>
          </a:graphicData>
        </a:graphic>
      </p:graphicFrame>
      <p:sp>
        <p:nvSpPr>
          <p:cNvPr id="8" name="TextBox 7">
            <a:extLst>
              <a:ext uri="{FF2B5EF4-FFF2-40B4-BE49-F238E27FC236}">
                <a16:creationId xmlns:a16="http://schemas.microsoft.com/office/drawing/2014/main" id="{584C556A-648C-406C-93F3-092E9C3B1E9A}"/>
              </a:ext>
            </a:extLst>
          </p:cNvPr>
          <p:cNvSpPr txBox="1"/>
          <p:nvPr/>
        </p:nvSpPr>
        <p:spPr>
          <a:xfrm>
            <a:off x="1511300" y="3736291"/>
            <a:ext cx="5702300" cy="338554"/>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D. Which departments have the highest total salary allocation?</a:t>
            </a:r>
          </a:p>
        </p:txBody>
      </p:sp>
      <p:graphicFrame>
        <p:nvGraphicFramePr>
          <p:cNvPr id="9" name="Table 5">
            <a:extLst>
              <a:ext uri="{FF2B5EF4-FFF2-40B4-BE49-F238E27FC236}">
                <a16:creationId xmlns:a16="http://schemas.microsoft.com/office/drawing/2014/main" id="{6F0D19C3-B118-4F96-90C0-BE59124D6C08}"/>
              </a:ext>
            </a:extLst>
          </p:cNvPr>
          <p:cNvGraphicFramePr>
            <a:graphicFrameLocks noGrp="1"/>
          </p:cNvGraphicFramePr>
          <p:nvPr>
            <p:extLst>
              <p:ext uri="{D42A27DB-BD31-4B8C-83A1-F6EECF244321}">
                <p14:modId xmlns:p14="http://schemas.microsoft.com/office/powerpoint/2010/main" val="2274581511"/>
              </p:ext>
            </p:extLst>
          </p:nvPr>
        </p:nvGraphicFramePr>
        <p:xfrm>
          <a:off x="1511300" y="4213811"/>
          <a:ext cx="6223000" cy="1403032"/>
        </p:xfrm>
        <a:graphic>
          <a:graphicData uri="http://schemas.openxmlformats.org/drawingml/2006/table">
            <a:tbl>
              <a:tblPr firstRow="1" bandRow="1">
                <a:tableStyleId>{7DF18680-E054-41AD-8BC1-D1AEF772440D}</a:tableStyleId>
              </a:tblPr>
              <a:tblGrid>
                <a:gridCol w="6223000">
                  <a:extLst>
                    <a:ext uri="{9D8B030D-6E8A-4147-A177-3AD203B41FA5}">
                      <a16:colId xmlns:a16="http://schemas.microsoft.com/office/drawing/2014/main" val="644335605"/>
                    </a:ext>
                  </a:extLst>
                </a:gridCol>
              </a:tblGrid>
              <a:tr h="1403032">
                <a:tc>
                  <a:txBody>
                    <a:bodyPr/>
                    <a:lstStyle/>
                    <a:p>
                      <a:r>
                        <a:rPr lang="en-US" dirty="0"/>
                        <a:t>select </a:t>
                      </a:r>
                      <a:r>
                        <a:rPr lang="en-US" dirty="0" err="1"/>
                        <a:t>j.jobdept,sum</a:t>
                      </a:r>
                      <a:r>
                        <a:rPr lang="en-US" dirty="0"/>
                        <a:t>(</a:t>
                      </a:r>
                      <a:r>
                        <a:rPr lang="en-US" dirty="0" err="1"/>
                        <a:t>s.annual</a:t>
                      </a:r>
                      <a:r>
                        <a:rPr lang="en-US" dirty="0"/>
                        <a:t>) as </a:t>
                      </a:r>
                      <a:r>
                        <a:rPr lang="en-US" dirty="0" err="1"/>
                        <a:t>total_salary_allocation</a:t>
                      </a:r>
                      <a:r>
                        <a:rPr lang="en-US" dirty="0"/>
                        <a:t> from </a:t>
                      </a:r>
                      <a:r>
                        <a:rPr lang="en-US" dirty="0" err="1"/>
                        <a:t>jobdepartment</a:t>
                      </a:r>
                      <a:r>
                        <a:rPr lang="en-US" dirty="0"/>
                        <a:t> j</a:t>
                      </a:r>
                    </a:p>
                    <a:p>
                      <a:r>
                        <a:rPr lang="en-US" dirty="0"/>
                        <a:t>join </a:t>
                      </a:r>
                      <a:r>
                        <a:rPr lang="en-US" dirty="0" err="1"/>
                        <a:t>salarybonus</a:t>
                      </a:r>
                      <a:r>
                        <a:rPr lang="en-US" dirty="0"/>
                        <a:t> s</a:t>
                      </a:r>
                    </a:p>
                    <a:p>
                      <a:r>
                        <a:rPr lang="en-US" dirty="0"/>
                        <a:t>on </a:t>
                      </a:r>
                      <a:r>
                        <a:rPr lang="en-US" dirty="0" err="1"/>
                        <a:t>j.job_id</a:t>
                      </a:r>
                      <a:r>
                        <a:rPr lang="en-US" dirty="0"/>
                        <a:t> = </a:t>
                      </a:r>
                      <a:r>
                        <a:rPr lang="en-US" dirty="0" err="1"/>
                        <a:t>s.job_id</a:t>
                      </a:r>
                      <a:endParaRPr lang="en-US" dirty="0"/>
                    </a:p>
                    <a:p>
                      <a:r>
                        <a:rPr lang="en-US" dirty="0"/>
                        <a:t>group by </a:t>
                      </a:r>
                      <a:r>
                        <a:rPr lang="en-US" dirty="0" err="1"/>
                        <a:t>j.jobdept</a:t>
                      </a:r>
                      <a:endParaRPr lang="en-US" dirty="0"/>
                    </a:p>
                    <a:p>
                      <a:r>
                        <a:rPr lang="en-US" dirty="0"/>
                        <a:t>order by </a:t>
                      </a:r>
                      <a:r>
                        <a:rPr lang="en-US" dirty="0" err="1"/>
                        <a:t>total_salary_allocation</a:t>
                      </a:r>
                      <a:r>
                        <a:rPr lang="en-US" dirty="0"/>
                        <a:t> desc;</a:t>
                      </a:r>
                    </a:p>
                  </a:txBody>
                  <a:tcPr/>
                </a:tc>
                <a:extLst>
                  <a:ext uri="{0D108BD9-81ED-4DB2-BD59-A6C34878D82A}">
                    <a16:rowId xmlns:a16="http://schemas.microsoft.com/office/drawing/2014/main" val="370446795"/>
                  </a:ext>
                </a:extLst>
              </a:tr>
            </a:tbl>
          </a:graphicData>
        </a:graphic>
      </p:graphicFrame>
      <p:pic>
        <p:nvPicPr>
          <p:cNvPr id="13" name="Picture 12">
            <a:extLst>
              <a:ext uri="{FF2B5EF4-FFF2-40B4-BE49-F238E27FC236}">
                <a16:creationId xmlns:a16="http://schemas.microsoft.com/office/drawing/2014/main" id="{E84FB504-7DF7-4324-B72A-A43D83BCC927}"/>
              </a:ext>
            </a:extLst>
          </p:cNvPr>
          <p:cNvPicPr>
            <a:picLocks noChangeAspect="1"/>
          </p:cNvPicPr>
          <p:nvPr/>
        </p:nvPicPr>
        <p:blipFill>
          <a:blip r:embed="rId3"/>
          <a:stretch>
            <a:fillRect/>
          </a:stretch>
        </p:blipFill>
        <p:spPr>
          <a:xfrm>
            <a:off x="9023350" y="2434492"/>
            <a:ext cx="1990725" cy="571500"/>
          </a:xfrm>
          <a:prstGeom prst="rect">
            <a:avLst/>
          </a:prstGeom>
        </p:spPr>
      </p:pic>
      <p:pic>
        <p:nvPicPr>
          <p:cNvPr id="15" name="Picture 14">
            <a:extLst>
              <a:ext uri="{FF2B5EF4-FFF2-40B4-BE49-F238E27FC236}">
                <a16:creationId xmlns:a16="http://schemas.microsoft.com/office/drawing/2014/main" id="{CE4C9D7F-810F-4AB6-AF3F-614E9577560F}"/>
              </a:ext>
            </a:extLst>
          </p:cNvPr>
          <p:cNvPicPr>
            <a:picLocks noChangeAspect="1"/>
          </p:cNvPicPr>
          <p:nvPr/>
        </p:nvPicPr>
        <p:blipFill>
          <a:blip r:embed="rId4"/>
          <a:stretch>
            <a:fillRect/>
          </a:stretch>
        </p:blipFill>
        <p:spPr>
          <a:xfrm>
            <a:off x="9023350" y="3736291"/>
            <a:ext cx="2390775" cy="1924050"/>
          </a:xfrm>
          <a:prstGeom prst="rect">
            <a:avLst/>
          </a:prstGeom>
        </p:spPr>
      </p:pic>
    </p:spTree>
    <p:extLst>
      <p:ext uri="{BB962C8B-B14F-4D97-AF65-F5344CB8AC3E}">
        <p14:creationId xmlns:p14="http://schemas.microsoft.com/office/powerpoint/2010/main" val="22563116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2" descr="🔥 People Business PowerPoint Background Download | CBEditz">
            <a:extLst>
              <a:ext uri="{FF2B5EF4-FFF2-40B4-BE49-F238E27FC236}">
                <a16:creationId xmlns:a16="http://schemas.microsoft.com/office/drawing/2014/main" id="{82346EC7-45A3-45F1-8BDB-3F11ED0C6B82}"/>
              </a:ext>
            </a:extLst>
          </p:cNvPr>
          <p:cNvPicPr>
            <a:picLocks noChangeAspect="1" noChangeArrowheads="1"/>
          </p:cNvPicPr>
          <p:nvPr/>
        </p:nvPicPr>
        <p:blipFill>
          <a:blip r:embed="rId3">
            <a:alphaModFix amt="22000"/>
            <a:extLst>
              <a:ext uri="{28A0092B-C50C-407E-A947-70E740481C1C}">
                <a14:useLocalDpi xmlns:a14="http://schemas.microsoft.com/office/drawing/2010/main" val="0"/>
              </a:ext>
            </a:extLst>
          </a:blip>
          <a:srcRect/>
          <a:stretch>
            <a:fillRect/>
          </a:stretch>
        </p:blipFill>
        <p:spPr bwMode="auto">
          <a:xfrm>
            <a:off x="0" y="1"/>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C7590DA7-7487-47C8-B7AB-0B1EF2CC0299}"/>
              </a:ext>
            </a:extLst>
          </p:cNvPr>
          <p:cNvSpPr>
            <a:spLocks noGrp="1"/>
          </p:cNvSpPr>
          <p:nvPr>
            <p:ph type="title"/>
          </p:nvPr>
        </p:nvSpPr>
        <p:spPr>
          <a:xfrm>
            <a:off x="266700" y="0"/>
            <a:ext cx="10515600" cy="1325563"/>
          </a:xfrm>
        </p:spPr>
        <p:txBody>
          <a:bodyPr/>
          <a:lstStyle/>
          <a:p>
            <a:r>
              <a:rPr lang="en-US" b="1" dirty="0">
                <a:solidFill>
                  <a:srgbClr val="FF0000"/>
                </a:solidFill>
                <a:latin typeface="Times New Roman" panose="02020603050405020304" pitchFamily="18" charset="0"/>
                <a:cs typeface="Times New Roman" panose="02020603050405020304" pitchFamily="18" charset="0"/>
              </a:rPr>
              <a:t>ANALYSIS</a:t>
            </a:r>
          </a:p>
        </p:txBody>
      </p:sp>
      <p:sp>
        <p:nvSpPr>
          <p:cNvPr id="3" name="TextBox 2">
            <a:extLst>
              <a:ext uri="{FF2B5EF4-FFF2-40B4-BE49-F238E27FC236}">
                <a16:creationId xmlns:a16="http://schemas.microsoft.com/office/drawing/2014/main" id="{F38C0B67-DB00-4600-ADA8-E317B43AECA2}"/>
              </a:ext>
            </a:extLst>
          </p:cNvPr>
          <p:cNvSpPr txBox="1"/>
          <p:nvPr/>
        </p:nvSpPr>
        <p:spPr>
          <a:xfrm>
            <a:off x="1200150" y="1325563"/>
            <a:ext cx="7669530" cy="492443"/>
          </a:xfrm>
          <a:prstGeom prst="rect">
            <a:avLst/>
          </a:prstGeom>
          <a:noFill/>
        </p:spPr>
        <p:txBody>
          <a:bodyPr wrap="square" rtlCol="0">
            <a:spAutoFit/>
          </a:bodyPr>
          <a:lstStyle/>
          <a:p>
            <a:r>
              <a:rPr lang="en-US" sz="2600" b="1" dirty="0">
                <a:latin typeface="Times New Roman" panose="02020603050405020304" pitchFamily="18" charset="0"/>
                <a:cs typeface="Times New Roman" panose="02020603050405020304" pitchFamily="18" charset="0"/>
              </a:rPr>
              <a:t>3. QUALIFICATION AND SKILLS ANALYSIS</a:t>
            </a:r>
          </a:p>
        </p:txBody>
      </p:sp>
      <p:sp>
        <p:nvSpPr>
          <p:cNvPr id="4" name="TextBox 3">
            <a:extLst>
              <a:ext uri="{FF2B5EF4-FFF2-40B4-BE49-F238E27FC236}">
                <a16:creationId xmlns:a16="http://schemas.microsoft.com/office/drawing/2014/main" id="{3217E4F2-A74D-4604-B4D1-689A455C54E8}"/>
              </a:ext>
            </a:extLst>
          </p:cNvPr>
          <p:cNvSpPr txBox="1"/>
          <p:nvPr/>
        </p:nvSpPr>
        <p:spPr>
          <a:xfrm>
            <a:off x="1511300" y="1956972"/>
            <a:ext cx="5410200" cy="338554"/>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A. How many employees have at least one qualification listed?</a:t>
            </a:r>
          </a:p>
        </p:txBody>
      </p:sp>
      <p:graphicFrame>
        <p:nvGraphicFramePr>
          <p:cNvPr id="5" name="Table 5">
            <a:extLst>
              <a:ext uri="{FF2B5EF4-FFF2-40B4-BE49-F238E27FC236}">
                <a16:creationId xmlns:a16="http://schemas.microsoft.com/office/drawing/2014/main" id="{7692B7F1-72B7-4924-9AEB-BA3D824D02C5}"/>
              </a:ext>
            </a:extLst>
          </p:cNvPr>
          <p:cNvGraphicFramePr>
            <a:graphicFrameLocks noGrp="1"/>
          </p:cNvGraphicFramePr>
          <p:nvPr>
            <p:extLst>
              <p:ext uri="{D42A27DB-BD31-4B8C-83A1-F6EECF244321}">
                <p14:modId xmlns:p14="http://schemas.microsoft.com/office/powerpoint/2010/main" val="2125809915"/>
              </p:ext>
            </p:extLst>
          </p:nvPr>
        </p:nvGraphicFramePr>
        <p:xfrm>
          <a:off x="1511300" y="2434492"/>
          <a:ext cx="5511800" cy="518160"/>
        </p:xfrm>
        <a:graphic>
          <a:graphicData uri="http://schemas.openxmlformats.org/drawingml/2006/table">
            <a:tbl>
              <a:tblPr firstRow="1" bandRow="1">
                <a:tableStyleId>{7DF18680-E054-41AD-8BC1-D1AEF772440D}</a:tableStyleId>
              </a:tblPr>
              <a:tblGrid>
                <a:gridCol w="5511800">
                  <a:extLst>
                    <a:ext uri="{9D8B030D-6E8A-4147-A177-3AD203B41FA5}">
                      <a16:colId xmlns:a16="http://schemas.microsoft.com/office/drawing/2014/main" val="644335605"/>
                    </a:ext>
                  </a:extLst>
                </a:gridCol>
              </a:tblGrid>
              <a:tr h="359834">
                <a:tc>
                  <a:txBody>
                    <a:bodyPr/>
                    <a:lstStyle/>
                    <a:p>
                      <a:r>
                        <a:rPr lang="en-US" dirty="0"/>
                        <a:t>select count(distinct </a:t>
                      </a:r>
                      <a:r>
                        <a:rPr lang="en-US" dirty="0" err="1"/>
                        <a:t>emp_id</a:t>
                      </a:r>
                      <a:r>
                        <a:rPr lang="en-US" dirty="0"/>
                        <a:t> )as </a:t>
                      </a:r>
                      <a:r>
                        <a:rPr lang="en-US" dirty="0" err="1"/>
                        <a:t>employee_with_qualification</a:t>
                      </a:r>
                      <a:endParaRPr lang="en-US" dirty="0"/>
                    </a:p>
                    <a:p>
                      <a:r>
                        <a:rPr lang="en-US" dirty="0"/>
                        <a:t>from qualification;</a:t>
                      </a:r>
                    </a:p>
                  </a:txBody>
                  <a:tcPr/>
                </a:tc>
                <a:extLst>
                  <a:ext uri="{0D108BD9-81ED-4DB2-BD59-A6C34878D82A}">
                    <a16:rowId xmlns:a16="http://schemas.microsoft.com/office/drawing/2014/main" val="370446795"/>
                  </a:ext>
                </a:extLst>
              </a:tr>
            </a:tbl>
          </a:graphicData>
        </a:graphic>
      </p:graphicFrame>
      <p:sp>
        <p:nvSpPr>
          <p:cNvPr id="8" name="TextBox 7">
            <a:extLst>
              <a:ext uri="{FF2B5EF4-FFF2-40B4-BE49-F238E27FC236}">
                <a16:creationId xmlns:a16="http://schemas.microsoft.com/office/drawing/2014/main" id="{584C556A-648C-406C-93F3-092E9C3B1E9A}"/>
              </a:ext>
            </a:extLst>
          </p:cNvPr>
          <p:cNvSpPr txBox="1"/>
          <p:nvPr/>
        </p:nvSpPr>
        <p:spPr>
          <a:xfrm>
            <a:off x="1511300" y="3736291"/>
            <a:ext cx="5702300" cy="338554"/>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B. Which positions require the most qualifications?</a:t>
            </a:r>
          </a:p>
        </p:txBody>
      </p:sp>
      <p:graphicFrame>
        <p:nvGraphicFramePr>
          <p:cNvPr id="9" name="Table 5">
            <a:extLst>
              <a:ext uri="{FF2B5EF4-FFF2-40B4-BE49-F238E27FC236}">
                <a16:creationId xmlns:a16="http://schemas.microsoft.com/office/drawing/2014/main" id="{6F0D19C3-B118-4F96-90C0-BE59124D6C08}"/>
              </a:ext>
            </a:extLst>
          </p:cNvPr>
          <p:cNvGraphicFramePr>
            <a:graphicFrameLocks noGrp="1"/>
          </p:cNvGraphicFramePr>
          <p:nvPr>
            <p:extLst>
              <p:ext uri="{D42A27DB-BD31-4B8C-83A1-F6EECF244321}">
                <p14:modId xmlns:p14="http://schemas.microsoft.com/office/powerpoint/2010/main" val="962464517"/>
              </p:ext>
            </p:extLst>
          </p:nvPr>
        </p:nvGraphicFramePr>
        <p:xfrm>
          <a:off x="1511300" y="4213811"/>
          <a:ext cx="6223000" cy="1190946"/>
        </p:xfrm>
        <a:graphic>
          <a:graphicData uri="http://schemas.openxmlformats.org/drawingml/2006/table">
            <a:tbl>
              <a:tblPr firstRow="1" bandRow="1">
                <a:tableStyleId>{7DF18680-E054-41AD-8BC1-D1AEF772440D}</a:tableStyleId>
              </a:tblPr>
              <a:tblGrid>
                <a:gridCol w="6223000">
                  <a:extLst>
                    <a:ext uri="{9D8B030D-6E8A-4147-A177-3AD203B41FA5}">
                      <a16:colId xmlns:a16="http://schemas.microsoft.com/office/drawing/2014/main" val="644335605"/>
                    </a:ext>
                  </a:extLst>
                </a:gridCol>
              </a:tblGrid>
              <a:tr h="1190946">
                <a:tc>
                  <a:txBody>
                    <a:bodyPr/>
                    <a:lstStyle/>
                    <a:p>
                      <a:r>
                        <a:rPr lang="en-US" dirty="0"/>
                        <a:t>select </a:t>
                      </a:r>
                      <a:r>
                        <a:rPr lang="en-US" dirty="0" err="1"/>
                        <a:t>q.position,count</a:t>
                      </a:r>
                      <a:r>
                        <a:rPr lang="en-US" dirty="0"/>
                        <a:t>(</a:t>
                      </a:r>
                      <a:r>
                        <a:rPr lang="en-US" dirty="0" err="1"/>
                        <a:t>q.qualid</a:t>
                      </a:r>
                      <a:r>
                        <a:rPr lang="en-US" dirty="0"/>
                        <a:t>) as </a:t>
                      </a:r>
                      <a:r>
                        <a:rPr lang="en-US" dirty="0" err="1"/>
                        <a:t>require_most_qualification</a:t>
                      </a:r>
                      <a:r>
                        <a:rPr lang="en-US" dirty="0"/>
                        <a:t> from qualification q</a:t>
                      </a:r>
                    </a:p>
                    <a:p>
                      <a:r>
                        <a:rPr lang="en-US" dirty="0"/>
                        <a:t>group by </a:t>
                      </a:r>
                      <a:r>
                        <a:rPr lang="en-US" dirty="0" err="1"/>
                        <a:t>q.position</a:t>
                      </a:r>
                      <a:endParaRPr lang="en-US" dirty="0"/>
                    </a:p>
                    <a:p>
                      <a:r>
                        <a:rPr lang="en-US" dirty="0"/>
                        <a:t>order by </a:t>
                      </a:r>
                      <a:r>
                        <a:rPr lang="en-US" dirty="0" err="1"/>
                        <a:t>require_most_qualification</a:t>
                      </a:r>
                      <a:r>
                        <a:rPr lang="en-US" dirty="0"/>
                        <a:t> desc;</a:t>
                      </a:r>
                    </a:p>
                  </a:txBody>
                  <a:tcPr/>
                </a:tc>
                <a:extLst>
                  <a:ext uri="{0D108BD9-81ED-4DB2-BD59-A6C34878D82A}">
                    <a16:rowId xmlns:a16="http://schemas.microsoft.com/office/drawing/2014/main" val="370446795"/>
                  </a:ext>
                </a:extLst>
              </a:tr>
            </a:tbl>
          </a:graphicData>
        </a:graphic>
      </p:graphicFrame>
      <p:pic>
        <p:nvPicPr>
          <p:cNvPr id="7" name="Picture 6">
            <a:extLst>
              <a:ext uri="{FF2B5EF4-FFF2-40B4-BE49-F238E27FC236}">
                <a16:creationId xmlns:a16="http://schemas.microsoft.com/office/drawing/2014/main" id="{B6DD8FF5-8DC1-4A95-AF8A-98C000DB82E9}"/>
              </a:ext>
            </a:extLst>
          </p:cNvPr>
          <p:cNvPicPr>
            <a:picLocks noChangeAspect="1"/>
          </p:cNvPicPr>
          <p:nvPr/>
        </p:nvPicPr>
        <p:blipFill>
          <a:blip r:embed="rId4"/>
          <a:stretch>
            <a:fillRect/>
          </a:stretch>
        </p:blipFill>
        <p:spPr>
          <a:xfrm>
            <a:off x="9058866" y="2166159"/>
            <a:ext cx="2460472" cy="668744"/>
          </a:xfrm>
          <a:prstGeom prst="rect">
            <a:avLst/>
          </a:prstGeom>
        </p:spPr>
      </p:pic>
      <p:pic>
        <p:nvPicPr>
          <p:cNvPr id="11" name="Picture 10">
            <a:extLst>
              <a:ext uri="{FF2B5EF4-FFF2-40B4-BE49-F238E27FC236}">
                <a16:creationId xmlns:a16="http://schemas.microsoft.com/office/drawing/2014/main" id="{577A7B02-9950-445B-A8B8-9D28A86F6B14}"/>
              </a:ext>
            </a:extLst>
          </p:cNvPr>
          <p:cNvPicPr>
            <a:picLocks noChangeAspect="1"/>
          </p:cNvPicPr>
          <p:nvPr/>
        </p:nvPicPr>
        <p:blipFill>
          <a:blip r:embed="rId5"/>
          <a:stretch>
            <a:fillRect/>
          </a:stretch>
        </p:blipFill>
        <p:spPr>
          <a:xfrm>
            <a:off x="8869680" y="3736291"/>
            <a:ext cx="3114675" cy="1885950"/>
          </a:xfrm>
          <a:prstGeom prst="rect">
            <a:avLst/>
          </a:prstGeom>
        </p:spPr>
      </p:pic>
    </p:spTree>
    <p:extLst>
      <p:ext uri="{BB962C8B-B14F-4D97-AF65-F5344CB8AC3E}">
        <p14:creationId xmlns:p14="http://schemas.microsoft.com/office/powerpoint/2010/main" val="26985044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2" descr="🔥 People Business PowerPoint Background Download | CBEditz">
            <a:extLst>
              <a:ext uri="{FF2B5EF4-FFF2-40B4-BE49-F238E27FC236}">
                <a16:creationId xmlns:a16="http://schemas.microsoft.com/office/drawing/2014/main" id="{4A8BA511-ABBC-42F0-9A51-12C1223DB2E0}"/>
              </a:ext>
            </a:extLst>
          </p:cNvPr>
          <p:cNvPicPr>
            <a:picLocks noChangeAspect="1" noChangeArrowheads="1"/>
          </p:cNvPicPr>
          <p:nvPr/>
        </p:nvPicPr>
        <p:blipFill>
          <a:blip r:embed="rId2">
            <a:alphaModFix amt="22000"/>
            <a:extLst>
              <a:ext uri="{28A0092B-C50C-407E-A947-70E740481C1C}">
                <a14:useLocalDpi xmlns:a14="http://schemas.microsoft.com/office/drawing/2010/main" val="0"/>
              </a:ext>
            </a:extLst>
          </a:blip>
          <a:srcRect/>
          <a:stretch>
            <a:fillRect/>
          </a:stretch>
        </p:blipFill>
        <p:spPr bwMode="auto">
          <a:xfrm>
            <a:off x="0" y="1"/>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C7590DA7-7487-47C8-B7AB-0B1EF2CC0299}"/>
              </a:ext>
            </a:extLst>
          </p:cNvPr>
          <p:cNvSpPr>
            <a:spLocks noGrp="1"/>
          </p:cNvSpPr>
          <p:nvPr>
            <p:ph type="title"/>
          </p:nvPr>
        </p:nvSpPr>
        <p:spPr>
          <a:xfrm>
            <a:off x="266700" y="0"/>
            <a:ext cx="10515600" cy="1325563"/>
          </a:xfrm>
        </p:spPr>
        <p:txBody>
          <a:bodyPr/>
          <a:lstStyle/>
          <a:p>
            <a:r>
              <a:rPr lang="en-US" b="1" dirty="0">
                <a:solidFill>
                  <a:srgbClr val="FF0000"/>
                </a:solidFill>
                <a:latin typeface="Times New Roman" panose="02020603050405020304" pitchFamily="18" charset="0"/>
                <a:cs typeface="Times New Roman" panose="02020603050405020304" pitchFamily="18" charset="0"/>
              </a:rPr>
              <a:t>ANALYSIS</a:t>
            </a:r>
          </a:p>
        </p:txBody>
      </p:sp>
      <p:sp>
        <p:nvSpPr>
          <p:cNvPr id="3" name="TextBox 2">
            <a:extLst>
              <a:ext uri="{FF2B5EF4-FFF2-40B4-BE49-F238E27FC236}">
                <a16:creationId xmlns:a16="http://schemas.microsoft.com/office/drawing/2014/main" id="{F38C0B67-DB00-4600-ADA8-E317B43AECA2}"/>
              </a:ext>
            </a:extLst>
          </p:cNvPr>
          <p:cNvSpPr txBox="1"/>
          <p:nvPr/>
        </p:nvSpPr>
        <p:spPr>
          <a:xfrm>
            <a:off x="1200150" y="1325563"/>
            <a:ext cx="7669530" cy="492443"/>
          </a:xfrm>
          <a:prstGeom prst="rect">
            <a:avLst/>
          </a:prstGeom>
          <a:noFill/>
        </p:spPr>
        <p:txBody>
          <a:bodyPr wrap="square" rtlCol="0">
            <a:spAutoFit/>
          </a:bodyPr>
          <a:lstStyle/>
          <a:p>
            <a:r>
              <a:rPr lang="en-US" sz="2600" b="1" dirty="0">
                <a:latin typeface="Times New Roman" panose="02020603050405020304" pitchFamily="18" charset="0"/>
                <a:cs typeface="Times New Roman" panose="02020603050405020304" pitchFamily="18" charset="0"/>
              </a:rPr>
              <a:t>3. QUALIFICATION AND SKILLS ANALYSIS</a:t>
            </a:r>
          </a:p>
        </p:txBody>
      </p:sp>
      <p:sp>
        <p:nvSpPr>
          <p:cNvPr id="4" name="TextBox 3">
            <a:extLst>
              <a:ext uri="{FF2B5EF4-FFF2-40B4-BE49-F238E27FC236}">
                <a16:creationId xmlns:a16="http://schemas.microsoft.com/office/drawing/2014/main" id="{3217E4F2-A74D-4604-B4D1-689A455C54E8}"/>
              </a:ext>
            </a:extLst>
          </p:cNvPr>
          <p:cNvSpPr txBox="1"/>
          <p:nvPr/>
        </p:nvSpPr>
        <p:spPr>
          <a:xfrm>
            <a:off x="2768600" y="1887489"/>
            <a:ext cx="5410200" cy="338554"/>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C. Which employees have the highest number of qualifications?</a:t>
            </a:r>
          </a:p>
        </p:txBody>
      </p:sp>
      <p:graphicFrame>
        <p:nvGraphicFramePr>
          <p:cNvPr id="5" name="Table 5">
            <a:extLst>
              <a:ext uri="{FF2B5EF4-FFF2-40B4-BE49-F238E27FC236}">
                <a16:creationId xmlns:a16="http://schemas.microsoft.com/office/drawing/2014/main" id="{7692B7F1-72B7-4924-9AEB-BA3D824D02C5}"/>
              </a:ext>
            </a:extLst>
          </p:cNvPr>
          <p:cNvGraphicFramePr>
            <a:graphicFrameLocks noGrp="1"/>
          </p:cNvGraphicFramePr>
          <p:nvPr>
            <p:extLst>
              <p:ext uri="{D42A27DB-BD31-4B8C-83A1-F6EECF244321}">
                <p14:modId xmlns:p14="http://schemas.microsoft.com/office/powerpoint/2010/main" val="3185587746"/>
              </p:ext>
            </p:extLst>
          </p:nvPr>
        </p:nvGraphicFramePr>
        <p:xfrm>
          <a:off x="2768600" y="2606115"/>
          <a:ext cx="5511800" cy="1371600"/>
        </p:xfrm>
        <a:graphic>
          <a:graphicData uri="http://schemas.openxmlformats.org/drawingml/2006/table">
            <a:tbl>
              <a:tblPr firstRow="1" bandRow="1">
                <a:tableStyleId>{7DF18680-E054-41AD-8BC1-D1AEF772440D}</a:tableStyleId>
              </a:tblPr>
              <a:tblGrid>
                <a:gridCol w="5511800">
                  <a:extLst>
                    <a:ext uri="{9D8B030D-6E8A-4147-A177-3AD203B41FA5}">
                      <a16:colId xmlns:a16="http://schemas.microsoft.com/office/drawing/2014/main" val="644335605"/>
                    </a:ext>
                  </a:extLst>
                </a:gridCol>
              </a:tblGrid>
              <a:tr h="359834">
                <a:tc>
                  <a:txBody>
                    <a:bodyPr/>
                    <a:lstStyle/>
                    <a:p>
                      <a:r>
                        <a:rPr lang="en-US" dirty="0"/>
                        <a:t>select </a:t>
                      </a:r>
                      <a:r>
                        <a:rPr lang="en-US" dirty="0" err="1"/>
                        <a:t>e.firstname,e.lastname,count</a:t>
                      </a:r>
                      <a:r>
                        <a:rPr lang="en-US" dirty="0"/>
                        <a:t>(</a:t>
                      </a:r>
                      <a:r>
                        <a:rPr lang="en-US" dirty="0" err="1"/>
                        <a:t>q.qualid</a:t>
                      </a:r>
                      <a:r>
                        <a:rPr lang="en-US" dirty="0"/>
                        <a:t>) as </a:t>
                      </a:r>
                      <a:r>
                        <a:rPr lang="en-US" dirty="0" err="1"/>
                        <a:t>highest_qualification</a:t>
                      </a:r>
                      <a:r>
                        <a:rPr lang="en-US" dirty="0"/>
                        <a:t> from employee e</a:t>
                      </a:r>
                    </a:p>
                    <a:p>
                      <a:r>
                        <a:rPr lang="en-US" dirty="0"/>
                        <a:t>join qualification q</a:t>
                      </a:r>
                    </a:p>
                    <a:p>
                      <a:r>
                        <a:rPr lang="en-US" dirty="0"/>
                        <a:t>on </a:t>
                      </a:r>
                      <a:r>
                        <a:rPr lang="en-US" dirty="0" err="1"/>
                        <a:t>e.emp_id</a:t>
                      </a:r>
                      <a:r>
                        <a:rPr lang="en-US" dirty="0"/>
                        <a:t> = </a:t>
                      </a:r>
                      <a:r>
                        <a:rPr lang="en-US" dirty="0" err="1"/>
                        <a:t>q.emp_id</a:t>
                      </a:r>
                      <a:endParaRPr lang="en-US" dirty="0"/>
                    </a:p>
                    <a:p>
                      <a:r>
                        <a:rPr lang="en-US" dirty="0"/>
                        <a:t>group by </a:t>
                      </a:r>
                      <a:r>
                        <a:rPr lang="en-US" dirty="0" err="1"/>
                        <a:t>e.firstname,e.lastname</a:t>
                      </a:r>
                      <a:endParaRPr lang="en-US" dirty="0"/>
                    </a:p>
                    <a:p>
                      <a:r>
                        <a:rPr lang="en-US" dirty="0"/>
                        <a:t>order by </a:t>
                      </a:r>
                      <a:r>
                        <a:rPr lang="en-US" dirty="0" err="1"/>
                        <a:t>highest_qualification</a:t>
                      </a:r>
                      <a:r>
                        <a:rPr lang="en-US" dirty="0"/>
                        <a:t> desc;</a:t>
                      </a:r>
                    </a:p>
                  </a:txBody>
                  <a:tcPr/>
                </a:tc>
                <a:extLst>
                  <a:ext uri="{0D108BD9-81ED-4DB2-BD59-A6C34878D82A}">
                    <a16:rowId xmlns:a16="http://schemas.microsoft.com/office/drawing/2014/main" val="370446795"/>
                  </a:ext>
                </a:extLst>
              </a:tr>
            </a:tbl>
          </a:graphicData>
        </a:graphic>
      </p:graphicFrame>
      <p:pic>
        <p:nvPicPr>
          <p:cNvPr id="10" name="Picture 9">
            <a:extLst>
              <a:ext uri="{FF2B5EF4-FFF2-40B4-BE49-F238E27FC236}">
                <a16:creationId xmlns:a16="http://schemas.microsoft.com/office/drawing/2014/main" id="{425BB779-7F52-419E-9C84-F7D027AB82BE}"/>
              </a:ext>
            </a:extLst>
          </p:cNvPr>
          <p:cNvPicPr>
            <a:picLocks noChangeAspect="1"/>
          </p:cNvPicPr>
          <p:nvPr/>
        </p:nvPicPr>
        <p:blipFill>
          <a:blip r:embed="rId3"/>
          <a:stretch>
            <a:fillRect/>
          </a:stretch>
        </p:blipFill>
        <p:spPr>
          <a:xfrm>
            <a:off x="4054475" y="4455235"/>
            <a:ext cx="2867025" cy="1695450"/>
          </a:xfrm>
          <a:prstGeom prst="rect">
            <a:avLst/>
          </a:prstGeom>
        </p:spPr>
      </p:pic>
    </p:spTree>
    <p:extLst>
      <p:ext uri="{BB962C8B-B14F-4D97-AF65-F5344CB8AC3E}">
        <p14:creationId xmlns:p14="http://schemas.microsoft.com/office/powerpoint/2010/main" val="35097271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2" descr="🔥 People Business PowerPoint Background Download | CBEditz">
            <a:extLst>
              <a:ext uri="{FF2B5EF4-FFF2-40B4-BE49-F238E27FC236}">
                <a16:creationId xmlns:a16="http://schemas.microsoft.com/office/drawing/2014/main" id="{F94A0FCE-8CAD-4B3E-A10C-D58AF1707052}"/>
              </a:ext>
            </a:extLst>
          </p:cNvPr>
          <p:cNvPicPr>
            <a:picLocks noChangeAspect="1" noChangeArrowheads="1"/>
          </p:cNvPicPr>
          <p:nvPr/>
        </p:nvPicPr>
        <p:blipFill>
          <a:blip r:embed="rId2">
            <a:alphaModFix amt="22000"/>
            <a:extLst>
              <a:ext uri="{28A0092B-C50C-407E-A947-70E740481C1C}">
                <a14:useLocalDpi xmlns:a14="http://schemas.microsoft.com/office/drawing/2010/main" val="0"/>
              </a:ext>
            </a:extLst>
          </a:blip>
          <a:srcRect/>
          <a:stretch>
            <a:fillRect/>
          </a:stretch>
        </p:blipFill>
        <p:spPr bwMode="auto">
          <a:xfrm>
            <a:off x="0" y="1"/>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C7590DA7-7487-47C8-B7AB-0B1EF2CC0299}"/>
              </a:ext>
            </a:extLst>
          </p:cNvPr>
          <p:cNvSpPr>
            <a:spLocks noGrp="1"/>
          </p:cNvSpPr>
          <p:nvPr>
            <p:ph type="title"/>
          </p:nvPr>
        </p:nvSpPr>
        <p:spPr>
          <a:xfrm>
            <a:off x="266700" y="0"/>
            <a:ext cx="10515600" cy="1325563"/>
          </a:xfrm>
        </p:spPr>
        <p:txBody>
          <a:bodyPr/>
          <a:lstStyle/>
          <a:p>
            <a:r>
              <a:rPr lang="en-US" b="1" dirty="0">
                <a:solidFill>
                  <a:srgbClr val="FF0000"/>
                </a:solidFill>
                <a:latin typeface="Times New Roman" panose="02020603050405020304" pitchFamily="18" charset="0"/>
                <a:cs typeface="Times New Roman" panose="02020603050405020304" pitchFamily="18" charset="0"/>
              </a:rPr>
              <a:t>ANALYSIS</a:t>
            </a:r>
          </a:p>
        </p:txBody>
      </p:sp>
      <p:sp>
        <p:nvSpPr>
          <p:cNvPr id="3" name="TextBox 2">
            <a:extLst>
              <a:ext uri="{FF2B5EF4-FFF2-40B4-BE49-F238E27FC236}">
                <a16:creationId xmlns:a16="http://schemas.microsoft.com/office/drawing/2014/main" id="{F38C0B67-DB00-4600-ADA8-E317B43AECA2}"/>
              </a:ext>
            </a:extLst>
          </p:cNvPr>
          <p:cNvSpPr txBox="1"/>
          <p:nvPr/>
        </p:nvSpPr>
        <p:spPr>
          <a:xfrm>
            <a:off x="1200150" y="1325563"/>
            <a:ext cx="7669530" cy="492443"/>
          </a:xfrm>
          <a:prstGeom prst="rect">
            <a:avLst/>
          </a:prstGeom>
          <a:noFill/>
        </p:spPr>
        <p:txBody>
          <a:bodyPr wrap="square" rtlCol="0">
            <a:spAutoFit/>
          </a:bodyPr>
          <a:lstStyle/>
          <a:p>
            <a:r>
              <a:rPr lang="en-US" sz="2600" b="1" dirty="0">
                <a:latin typeface="Times New Roman" panose="02020603050405020304" pitchFamily="18" charset="0"/>
                <a:cs typeface="Times New Roman" panose="02020603050405020304" pitchFamily="18" charset="0"/>
              </a:rPr>
              <a:t>4. LEAVE AND ABSENCE PATTERNS</a:t>
            </a:r>
          </a:p>
        </p:txBody>
      </p:sp>
      <p:sp>
        <p:nvSpPr>
          <p:cNvPr id="4" name="TextBox 3">
            <a:extLst>
              <a:ext uri="{FF2B5EF4-FFF2-40B4-BE49-F238E27FC236}">
                <a16:creationId xmlns:a16="http://schemas.microsoft.com/office/drawing/2014/main" id="{3217E4F2-A74D-4604-B4D1-689A455C54E8}"/>
              </a:ext>
            </a:extLst>
          </p:cNvPr>
          <p:cNvSpPr txBox="1"/>
          <p:nvPr/>
        </p:nvSpPr>
        <p:spPr>
          <a:xfrm>
            <a:off x="1511300" y="1956972"/>
            <a:ext cx="5410200" cy="338554"/>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A. Which year had the most employees taking leaves?</a:t>
            </a:r>
          </a:p>
        </p:txBody>
      </p:sp>
      <p:graphicFrame>
        <p:nvGraphicFramePr>
          <p:cNvPr id="5" name="Table 5">
            <a:extLst>
              <a:ext uri="{FF2B5EF4-FFF2-40B4-BE49-F238E27FC236}">
                <a16:creationId xmlns:a16="http://schemas.microsoft.com/office/drawing/2014/main" id="{7692B7F1-72B7-4924-9AEB-BA3D824D02C5}"/>
              </a:ext>
            </a:extLst>
          </p:cNvPr>
          <p:cNvGraphicFramePr>
            <a:graphicFrameLocks noGrp="1"/>
          </p:cNvGraphicFramePr>
          <p:nvPr>
            <p:extLst>
              <p:ext uri="{D42A27DB-BD31-4B8C-83A1-F6EECF244321}">
                <p14:modId xmlns:p14="http://schemas.microsoft.com/office/powerpoint/2010/main" val="1445280348"/>
              </p:ext>
            </p:extLst>
          </p:nvPr>
        </p:nvGraphicFramePr>
        <p:xfrm>
          <a:off x="1511300" y="2434492"/>
          <a:ext cx="5511800" cy="944880"/>
        </p:xfrm>
        <a:graphic>
          <a:graphicData uri="http://schemas.openxmlformats.org/drawingml/2006/table">
            <a:tbl>
              <a:tblPr firstRow="1" bandRow="1">
                <a:tableStyleId>{7DF18680-E054-41AD-8BC1-D1AEF772440D}</a:tableStyleId>
              </a:tblPr>
              <a:tblGrid>
                <a:gridCol w="5511800">
                  <a:extLst>
                    <a:ext uri="{9D8B030D-6E8A-4147-A177-3AD203B41FA5}">
                      <a16:colId xmlns:a16="http://schemas.microsoft.com/office/drawing/2014/main" val="644335605"/>
                    </a:ext>
                  </a:extLst>
                </a:gridCol>
              </a:tblGrid>
              <a:tr h="359834">
                <a:tc>
                  <a:txBody>
                    <a:bodyPr/>
                    <a:lstStyle/>
                    <a:p>
                      <a:r>
                        <a:rPr lang="en-US" dirty="0"/>
                        <a:t>select year(date) as </a:t>
                      </a:r>
                      <a:r>
                        <a:rPr lang="en-US" dirty="0" err="1"/>
                        <a:t>leave_year</a:t>
                      </a:r>
                      <a:r>
                        <a:rPr lang="en-US" dirty="0"/>
                        <a:t>, count(distinct </a:t>
                      </a:r>
                      <a:r>
                        <a:rPr lang="en-US" dirty="0" err="1"/>
                        <a:t>emp_id</a:t>
                      </a:r>
                      <a:r>
                        <a:rPr lang="en-US" dirty="0"/>
                        <a:t>) as </a:t>
                      </a:r>
                      <a:r>
                        <a:rPr lang="en-US" dirty="0" err="1"/>
                        <a:t>employee_on_leave</a:t>
                      </a:r>
                      <a:r>
                        <a:rPr lang="en-US" dirty="0"/>
                        <a:t> from leaves</a:t>
                      </a:r>
                    </a:p>
                    <a:p>
                      <a:r>
                        <a:rPr lang="en-US" dirty="0"/>
                        <a:t>group by year(date)</a:t>
                      </a:r>
                    </a:p>
                    <a:p>
                      <a:r>
                        <a:rPr lang="en-US" dirty="0"/>
                        <a:t>order by </a:t>
                      </a:r>
                      <a:r>
                        <a:rPr lang="en-US" dirty="0" err="1"/>
                        <a:t>employee_on_leave</a:t>
                      </a:r>
                      <a:r>
                        <a:rPr lang="en-US" dirty="0"/>
                        <a:t>;</a:t>
                      </a:r>
                    </a:p>
                  </a:txBody>
                  <a:tcPr/>
                </a:tc>
                <a:extLst>
                  <a:ext uri="{0D108BD9-81ED-4DB2-BD59-A6C34878D82A}">
                    <a16:rowId xmlns:a16="http://schemas.microsoft.com/office/drawing/2014/main" val="370446795"/>
                  </a:ext>
                </a:extLst>
              </a:tr>
            </a:tbl>
          </a:graphicData>
        </a:graphic>
      </p:graphicFrame>
      <p:sp>
        <p:nvSpPr>
          <p:cNvPr id="8" name="TextBox 7">
            <a:extLst>
              <a:ext uri="{FF2B5EF4-FFF2-40B4-BE49-F238E27FC236}">
                <a16:creationId xmlns:a16="http://schemas.microsoft.com/office/drawing/2014/main" id="{584C556A-648C-406C-93F3-092E9C3B1E9A}"/>
              </a:ext>
            </a:extLst>
          </p:cNvPr>
          <p:cNvSpPr txBox="1"/>
          <p:nvPr/>
        </p:nvSpPr>
        <p:spPr>
          <a:xfrm>
            <a:off x="1511300" y="3736291"/>
            <a:ext cx="5702300" cy="584775"/>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B. What is the average number of leave days taken by its employees per department?</a:t>
            </a:r>
          </a:p>
        </p:txBody>
      </p:sp>
      <p:graphicFrame>
        <p:nvGraphicFramePr>
          <p:cNvPr id="9" name="Table 5">
            <a:extLst>
              <a:ext uri="{FF2B5EF4-FFF2-40B4-BE49-F238E27FC236}">
                <a16:creationId xmlns:a16="http://schemas.microsoft.com/office/drawing/2014/main" id="{6F0D19C3-B118-4F96-90C0-BE59124D6C08}"/>
              </a:ext>
            </a:extLst>
          </p:cNvPr>
          <p:cNvGraphicFramePr>
            <a:graphicFrameLocks noGrp="1"/>
          </p:cNvGraphicFramePr>
          <p:nvPr>
            <p:extLst>
              <p:ext uri="{D42A27DB-BD31-4B8C-83A1-F6EECF244321}">
                <p14:modId xmlns:p14="http://schemas.microsoft.com/office/powerpoint/2010/main" val="1982906058"/>
              </p:ext>
            </p:extLst>
          </p:nvPr>
        </p:nvGraphicFramePr>
        <p:xfrm>
          <a:off x="1511300" y="4431295"/>
          <a:ext cx="6223000" cy="1584960"/>
        </p:xfrm>
        <a:graphic>
          <a:graphicData uri="http://schemas.openxmlformats.org/drawingml/2006/table">
            <a:tbl>
              <a:tblPr firstRow="1" bandRow="1">
                <a:tableStyleId>{7DF18680-E054-41AD-8BC1-D1AEF772440D}</a:tableStyleId>
              </a:tblPr>
              <a:tblGrid>
                <a:gridCol w="6223000">
                  <a:extLst>
                    <a:ext uri="{9D8B030D-6E8A-4147-A177-3AD203B41FA5}">
                      <a16:colId xmlns:a16="http://schemas.microsoft.com/office/drawing/2014/main" val="644335605"/>
                    </a:ext>
                  </a:extLst>
                </a:gridCol>
              </a:tblGrid>
              <a:tr h="1190946">
                <a:tc>
                  <a:txBody>
                    <a:bodyPr/>
                    <a:lstStyle/>
                    <a:p>
                      <a:r>
                        <a:rPr lang="en-US" dirty="0"/>
                        <a:t>select </a:t>
                      </a:r>
                      <a:r>
                        <a:rPr lang="en-US" dirty="0" err="1"/>
                        <a:t>j.jobdept</a:t>
                      </a:r>
                      <a:r>
                        <a:rPr lang="en-US" dirty="0"/>
                        <a:t>, count(</a:t>
                      </a:r>
                      <a:r>
                        <a:rPr lang="en-US" dirty="0" err="1"/>
                        <a:t>l.leave_id</a:t>
                      </a:r>
                      <a:r>
                        <a:rPr lang="en-US" dirty="0"/>
                        <a:t>)/count(distinct </a:t>
                      </a:r>
                      <a:r>
                        <a:rPr lang="en-US" dirty="0" err="1"/>
                        <a:t>e.emp_id</a:t>
                      </a:r>
                      <a:r>
                        <a:rPr lang="en-US" dirty="0"/>
                        <a:t>)as </a:t>
                      </a:r>
                      <a:r>
                        <a:rPr lang="en-US" dirty="0" err="1"/>
                        <a:t>avg_leaves</a:t>
                      </a:r>
                      <a:r>
                        <a:rPr lang="en-US" dirty="0"/>
                        <a:t> from leaves l</a:t>
                      </a:r>
                    </a:p>
                    <a:p>
                      <a:r>
                        <a:rPr lang="en-US" dirty="0"/>
                        <a:t>join employee e</a:t>
                      </a:r>
                    </a:p>
                    <a:p>
                      <a:r>
                        <a:rPr lang="en-US" dirty="0"/>
                        <a:t>on </a:t>
                      </a:r>
                      <a:r>
                        <a:rPr lang="en-US" dirty="0" err="1"/>
                        <a:t>l.emp_id</a:t>
                      </a:r>
                      <a:r>
                        <a:rPr lang="en-US" dirty="0"/>
                        <a:t> = </a:t>
                      </a:r>
                      <a:r>
                        <a:rPr lang="en-US" dirty="0" err="1"/>
                        <a:t>e.emp_id</a:t>
                      </a:r>
                      <a:endParaRPr lang="en-US" dirty="0"/>
                    </a:p>
                    <a:p>
                      <a:r>
                        <a:rPr lang="en-US" dirty="0"/>
                        <a:t>join </a:t>
                      </a:r>
                      <a:r>
                        <a:rPr lang="en-US" dirty="0" err="1"/>
                        <a:t>jobdepartment</a:t>
                      </a:r>
                      <a:r>
                        <a:rPr lang="en-US" dirty="0"/>
                        <a:t> j</a:t>
                      </a:r>
                    </a:p>
                    <a:p>
                      <a:r>
                        <a:rPr lang="en-US" dirty="0"/>
                        <a:t>on </a:t>
                      </a:r>
                      <a:r>
                        <a:rPr lang="en-US" dirty="0" err="1"/>
                        <a:t>e.job_id</a:t>
                      </a:r>
                      <a:r>
                        <a:rPr lang="en-US" dirty="0"/>
                        <a:t> = </a:t>
                      </a:r>
                      <a:r>
                        <a:rPr lang="en-US" dirty="0" err="1"/>
                        <a:t>j.job_id</a:t>
                      </a:r>
                      <a:endParaRPr lang="en-US" dirty="0"/>
                    </a:p>
                    <a:p>
                      <a:r>
                        <a:rPr lang="en-US" dirty="0"/>
                        <a:t>group by </a:t>
                      </a:r>
                      <a:r>
                        <a:rPr lang="en-US" dirty="0" err="1"/>
                        <a:t>j.jobdept</a:t>
                      </a:r>
                      <a:r>
                        <a:rPr lang="en-US" dirty="0"/>
                        <a:t>;</a:t>
                      </a:r>
                    </a:p>
                  </a:txBody>
                  <a:tcPr/>
                </a:tc>
                <a:extLst>
                  <a:ext uri="{0D108BD9-81ED-4DB2-BD59-A6C34878D82A}">
                    <a16:rowId xmlns:a16="http://schemas.microsoft.com/office/drawing/2014/main" val="370446795"/>
                  </a:ext>
                </a:extLst>
              </a:tr>
            </a:tbl>
          </a:graphicData>
        </a:graphic>
      </p:graphicFrame>
      <p:pic>
        <p:nvPicPr>
          <p:cNvPr id="7" name="Picture 6">
            <a:extLst>
              <a:ext uri="{FF2B5EF4-FFF2-40B4-BE49-F238E27FC236}">
                <a16:creationId xmlns:a16="http://schemas.microsoft.com/office/drawing/2014/main" id="{42290476-DE80-40C2-AA2F-9D760B841BEA}"/>
              </a:ext>
            </a:extLst>
          </p:cNvPr>
          <p:cNvPicPr>
            <a:picLocks noChangeAspect="1"/>
          </p:cNvPicPr>
          <p:nvPr/>
        </p:nvPicPr>
        <p:blipFill>
          <a:blip r:embed="rId3"/>
          <a:stretch>
            <a:fillRect/>
          </a:stretch>
        </p:blipFill>
        <p:spPr>
          <a:xfrm>
            <a:off x="8869680" y="2199299"/>
            <a:ext cx="2228850" cy="476250"/>
          </a:xfrm>
          <a:prstGeom prst="rect">
            <a:avLst/>
          </a:prstGeom>
        </p:spPr>
      </p:pic>
      <p:pic>
        <p:nvPicPr>
          <p:cNvPr id="13" name="Picture 12">
            <a:extLst>
              <a:ext uri="{FF2B5EF4-FFF2-40B4-BE49-F238E27FC236}">
                <a16:creationId xmlns:a16="http://schemas.microsoft.com/office/drawing/2014/main" id="{187E0FC5-00A2-440C-92DE-538D8466D60D}"/>
              </a:ext>
            </a:extLst>
          </p:cNvPr>
          <p:cNvPicPr>
            <a:picLocks noChangeAspect="1"/>
          </p:cNvPicPr>
          <p:nvPr/>
        </p:nvPicPr>
        <p:blipFill>
          <a:blip r:embed="rId4"/>
          <a:stretch>
            <a:fillRect/>
          </a:stretch>
        </p:blipFill>
        <p:spPr>
          <a:xfrm>
            <a:off x="8869680" y="3736291"/>
            <a:ext cx="1790700" cy="1933575"/>
          </a:xfrm>
          <a:prstGeom prst="rect">
            <a:avLst/>
          </a:prstGeom>
        </p:spPr>
      </p:pic>
    </p:spTree>
    <p:extLst>
      <p:ext uri="{BB962C8B-B14F-4D97-AF65-F5344CB8AC3E}">
        <p14:creationId xmlns:p14="http://schemas.microsoft.com/office/powerpoint/2010/main" val="20976966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2" descr="🔥 People Business PowerPoint Background Download | CBEditz">
            <a:extLst>
              <a:ext uri="{FF2B5EF4-FFF2-40B4-BE49-F238E27FC236}">
                <a16:creationId xmlns:a16="http://schemas.microsoft.com/office/drawing/2014/main" id="{F5558409-1418-4117-8CC2-665C7C14030D}"/>
              </a:ext>
            </a:extLst>
          </p:cNvPr>
          <p:cNvPicPr>
            <a:picLocks noChangeAspect="1" noChangeArrowheads="1"/>
          </p:cNvPicPr>
          <p:nvPr/>
        </p:nvPicPr>
        <p:blipFill>
          <a:blip r:embed="rId2">
            <a:alphaModFix amt="22000"/>
            <a:extLst>
              <a:ext uri="{28A0092B-C50C-407E-A947-70E740481C1C}">
                <a14:useLocalDpi xmlns:a14="http://schemas.microsoft.com/office/drawing/2010/main" val="0"/>
              </a:ext>
            </a:extLst>
          </a:blip>
          <a:srcRect/>
          <a:stretch>
            <a:fillRect/>
          </a:stretch>
        </p:blipFill>
        <p:spPr bwMode="auto">
          <a:xfrm>
            <a:off x="0" y="1"/>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C7590DA7-7487-47C8-B7AB-0B1EF2CC0299}"/>
              </a:ext>
            </a:extLst>
          </p:cNvPr>
          <p:cNvSpPr>
            <a:spLocks noGrp="1"/>
          </p:cNvSpPr>
          <p:nvPr>
            <p:ph type="title"/>
          </p:nvPr>
        </p:nvSpPr>
        <p:spPr>
          <a:xfrm>
            <a:off x="266700" y="0"/>
            <a:ext cx="10515600" cy="1325563"/>
          </a:xfrm>
        </p:spPr>
        <p:txBody>
          <a:bodyPr/>
          <a:lstStyle/>
          <a:p>
            <a:r>
              <a:rPr lang="en-US" b="1" dirty="0">
                <a:solidFill>
                  <a:srgbClr val="FF0000"/>
                </a:solidFill>
                <a:latin typeface="Times New Roman" panose="02020603050405020304" pitchFamily="18" charset="0"/>
                <a:cs typeface="Times New Roman" panose="02020603050405020304" pitchFamily="18" charset="0"/>
              </a:rPr>
              <a:t>ANALYSIS</a:t>
            </a:r>
          </a:p>
        </p:txBody>
      </p:sp>
      <p:sp>
        <p:nvSpPr>
          <p:cNvPr id="3" name="TextBox 2">
            <a:extLst>
              <a:ext uri="{FF2B5EF4-FFF2-40B4-BE49-F238E27FC236}">
                <a16:creationId xmlns:a16="http://schemas.microsoft.com/office/drawing/2014/main" id="{F38C0B67-DB00-4600-ADA8-E317B43AECA2}"/>
              </a:ext>
            </a:extLst>
          </p:cNvPr>
          <p:cNvSpPr txBox="1"/>
          <p:nvPr/>
        </p:nvSpPr>
        <p:spPr>
          <a:xfrm>
            <a:off x="1200150" y="1325563"/>
            <a:ext cx="7669530" cy="492443"/>
          </a:xfrm>
          <a:prstGeom prst="rect">
            <a:avLst/>
          </a:prstGeom>
          <a:noFill/>
        </p:spPr>
        <p:txBody>
          <a:bodyPr wrap="square" rtlCol="0">
            <a:spAutoFit/>
          </a:bodyPr>
          <a:lstStyle/>
          <a:p>
            <a:r>
              <a:rPr lang="en-US" sz="2600" b="1" dirty="0">
                <a:latin typeface="Times New Roman" panose="02020603050405020304" pitchFamily="18" charset="0"/>
                <a:cs typeface="Times New Roman" panose="02020603050405020304" pitchFamily="18" charset="0"/>
              </a:rPr>
              <a:t>4. LEAVE AND ABSENCE PATTERNS</a:t>
            </a:r>
          </a:p>
        </p:txBody>
      </p:sp>
      <p:sp>
        <p:nvSpPr>
          <p:cNvPr id="4" name="TextBox 3">
            <a:extLst>
              <a:ext uri="{FF2B5EF4-FFF2-40B4-BE49-F238E27FC236}">
                <a16:creationId xmlns:a16="http://schemas.microsoft.com/office/drawing/2014/main" id="{3217E4F2-A74D-4604-B4D1-689A455C54E8}"/>
              </a:ext>
            </a:extLst>
          </p:cNvPr>
          <p:cNvSpPr txBox="1"/>
          <p:nvPr/>
        </p:nvSpPr>
        <p:spPr>
          <a:xfrm>
            <a:off x="1511300" y="1956972"/>
            <a:ext cx="5410200" cy="338554"/>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C. Which employees have taken the most leaves?</a:t>
            </a:r>
          </a:p>
        </p:txBody>
      </p:sp>
      <p:graphicFrame>
        <p:nvGraphicFramePr>
          <p:cNvPr id="5" name="Table 5">
            <a:extLst>
              <a:ext uri="{FF2B5EF4-FFF2-40B4-BE49-F238E27FC236}">
                <a16:creationId xmlns:a16="http://schemas.microsoft.com/office/drawing/2014/main" id="{7692B7F1-72B7-4924-9AEB-BA3D824D02C5}"/>
              </a:ext>
            </a:extLst>
          </p:cNvPr>
          <p:cNvGraphicFramePr>
            <a:graphicFrameLocks noGrp="1"/>
          </p:cNvGraphicFramePr>
          <p:nvPr>
            <p:extLst>
              <p:ext uri="{D42A27DB-BD31-4B8C-83A1-F6EECF244321}">
                <p14:modId xmlns:p14="http://schemas.microsoft.com/office/powerpoint/2010/main" val="655729645"/>
              </p:ext>
            </p:extLst>
          </p:nvPr>
        </p:nvGraphicFramePr>
        <p:xfrm>
          <a:off x="1511300" y="2434492"/>
          <a:ext cx="5511800" cy="1371600"/>
        </p:xfrm>
        <a:graphic>
          <a:graphicData uri="http://schemas.openxmlformats.org/drawingml/2006/table">
            <a:tbl>
              <a:tblPr firstRow="1" bandRow="1">
                <a:tableStyleId>{7DF18680-E054-41AD-8BC1-D1AEF772440D}</a:tableStyleId>
              </a:tblPr>
              <a:tblGrid>
                <a:gridCol w="5511800">
                  <a:extLst>
                    <a:ext uri="{9D8B030D-6E8A-4147-A177-3AD203B41FA5}">
                      <a16:colId xmlns:a16="http://schemas.microsoft.com/office/drawing/2014/main" val="644335605"/>
                    </a:ext>
                  </a:extLst>
                </a:gridCol>
              </a:tblGrid>
              <a:tr h="359834">
                <a:tc>
                  <a:txBody>
                    <a:bodyPr/>
                    <a:lstStyle/>
                    <a:p>
                      <a:r>
                        <a:rPr lang="en-US" dirty="0"/>
                        <a:t>select </a:t>
                      </a:r>
                      <a:r>
                        <a:rPr lang="en-US" dirty="0" err="1"/>
                        <a:t>e.emp_id,e.firstname,e.lastname,count</a:t>
                      </a:r>
                      <a:r>
                        <a:rPr lang="en-US" dirty="0"/>
                        <a:t>(</a:t>
                      </a:r>
                      <a:r>
                        <a:rPr lang="en-US" dirty="0" err="1"/>
                        <a:t>l.leave_id</a:t>
                      </a:r>
                      <a:r>
                        <a:rPr lang="en-US" dirty="0"/>
                        <a:t>) as </a:t>
                      </a:r>
                      <a:r>
                        <a:rPr lang="en-US" dirty="0" err="1"/>
                        <a:t>total_leaves</a:t>
                      </a:r>
                      <a:r>
                        <a:rPr lang="en-US" dirty="0"/>
                        <a:t> from employee e</a:t>
                      </a:r>
                    </a:p>
                    <a:p>
                      <a:r>
                        <a:rPr lang="en-US" dirty="0"/>
                        <a:t>join leaves l</a:t>
                      </a:r>
                    </a:p>
                    <a:p>
                      <a:r>
                        <a:rPr lang="en-US" dirty="0"/>
                        <a:t>on </a:t>
                      </a:r>
                      <a:r>
                        <a:rPr lang="en-US" dirty="0" err="1"/>
                        <a:t>e.emp_id</a:t>
                      </a:r>
                      <a:r>
                        <a:rPr lang="en-US" dirty="0"/>
                        <a:t> = </a:t>
                      </a:r>
                      <a:r>
                        <a:rPr lang="en-US" dirty="0" err="1"/>
                        <a:t>l.emp_id</a:t>
                      </a:r>
                      <a:endParaRPr lang="en-US" dirty="0"/>
                    </a:p>
                    <a:p>
                      <a:r>
                        <a:rPr lang="en-US" dirty="0"/>
                        <a:t>group by </a:t>
                      </a:r>
                      <a:r>
                        <a:rPr lang="en-US" dirty="0" err="1"/>
                        <a:t>e.emp_id,e.firstname,e.lastname</a:t>
                      </a:r>
                      <a:endParaRPr lang="en-US" dirty="0"/>
                    </a:p>
                    <a:p>
                      <a:r>
                        <a:rPr lang="en-US" dirty="0"/>
                        <a:t>order by </a:t>
                      </a:r>
                      <a:r>
                        <a:rPr lang="en-US" dirty="0" err="1"/>
                        <a:t>total_leaves</a:t>
                      </a:r>
                      <a:r>
                        <a:rPr lang="en-US" dirty="0"/>
                        <a:t> desc;</a:t>
                      </a:r>
                    </a:p>
                  </a:txBody>
                  <a:tcPr/>
                </a:tc>
                <a:extLst>
                  <a:ext uri="{0D108BD9-81ED-4DB2-BD59-A6C34878D82A}">
                    <a16:rowId xmlns:a16="http://schemas.microsoft.com/office/drawing/2014/main" val="370446795"/>
                  </a:ext>
                </a:extLst>
              </a:tr>
            </a:tbl>
          </a:graphicData>
        </a:graphic>
      </p:graphicFrame>
      <p:sp>
        <p:nvSpPr>
          <p:cNvPr id="8" name="TextBox 7">
            <a:extLst>
              <a:ext uri="{FF2B5EF4-FFF2-40B4-BE49-F238E27FC236}">
                <a16:creationId xmlns:a16="http://schemas.microsoft.com/office/drawing/2014/main" id="{584C556A-648C-406C-93F3-092E9C3B1E9A}"/>
              </a:ext>
            </a:extLst>
          </p:cNvPr>
          <p:cNvSpPr txBox="1"/>
          <p:nvPr/>
        </p:nvSpPr>
        <p:spPr>
          <a:xfrm>
            <a:off x="1511300" y="4000543"/>
            <a:ext cx="5702300" cy="338554"/>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D. What is the total number of leave days taken company-wide?</a:t>
            </a:r>
          </a:p>
        </p:txBody>
      </p:sp>
      <p:graphicFrame>
        <p:nvGraphicFramePr>
          <p:cNvPr id="9" name="Table 5">
            <a:extLst>
              <a:ext uri="{FF2B5EF4-FFF2-40B4-BE49-F238E27FC236}">
                <a16:creationId xmlns:a16="http://schemas.microsoft.com/office/drawing/2014/main" id="{6F0D19C3-B118-4F96-90C0-BE59124D6C08}"/>
              </a:ext>
            </a:extLst>
          </p:cNvPr>
          <p:cNvGraphicFramePr>
            <a:graphicFrameLocks noGrp="1"/>
          </p:cNvGraphicFramePr>
          <p:nvPr>
            <p:extLst>
              <p:ext uri="{D42A27DB-BD31-4B8C-83A1-F6EECF244321}">
                <p14:modId xmlns:p14="http://schemas.microsoft.com/office/powerpoint/2010/main" val="4124401146"/>
              </p:ext>
            </p:extLst>
          </p:nvPr>
        </p:nvGraphicFramePr>
        <p:xfrm>
          <a:off x="1511300" y="4654391"/>
          <a:ext cx="5511800" cy="668723"/>
        </p:xfrm>
        <a:graphic>
          <a:graphicData uri="http://schemas.openxmlformats.org/drawingml/2006/table">
            <a:tbl>
              <a:tblPr firstRow="1" bandRow="1">
                <a:tableStyleId>{7DF18680-E054-41AD-8BC1-D1AEF772440D}</a:tableStyleId>
              </a:tblPr>
              <a:tblGrid>
                <a:gridCol w="5511800">
                  <a:extLst>
                    <a:ext uri="{9D8B030D-6E8A-4147-A177-3AD203B41FA5}">
                      <a16:colId xmlns:a16="http://schemas.microsoft.com/office/drawing/2014/main" val="644335605"/>
                    </a:ext>
                  </a:extLst>
                </a:gridCol>
              </a:tblGrid>
              <a:tr h="668723">
                <a:tc>
                  <a:txBody>
                    <a:bodyPr/>
                    <a:lstStyle/>
                    <a:p>
                      <a:r>
                        <a:rPr lang="en-US" dirty="0"/>
                        <a:t>select count(*) as </a:t>
                      </a:r>
                      <a:r>
                        <a:rPr lang="en-US" dirty="0" err="1"/>
                        <a:t>total_leaves</a:t>
                      </a:r>
                      <a:r>
                        <a:rPr lang="en-US" dirty="0"/>
                        <a:t> from leaves;</a:t>
                      </a:r>
                    </a:p>
                  </a:txBody>
                  <a:tcPr/>
                </a:tc>
                <a:extLst>
                  <a:ext uri="{0D108BD9-81ED-4DB2-BD59-A6C34878D82A}">
                    <a16:rowId xmlns:a16="http://schemas.microsoft.com/office/drawing/2014/main" val="370446795"/>
                  </a:ext>
                </a:extLst>
              </a:tr>
            </a:tbl>
          </a:graphicData>
        </a:graphic>
      </p:graphicFrame>
      <p:pic>
        <p:nvPicPr>
          <p:cNvPr id="10" name="Picture 9">
            <a:extLst>
              <a:ext uri="{FF2B5EF4-FFF2-40B4-BE49-F238E27FC236}">
                <a16:creationId xmlns:a16="http://schemas.microsoft.com/office/drawing/2014/main" id="{36AE6C00-760F-4868-8251-F1BDD3995D05}"/>
              </a:ext>
            </a:extLst>
          </p:cNvPr>
          <p:cNvPicPr>
            <a:picLocks noChangeAspect="1"/>
          </p:cNvPicPr>
          <p:nvPr/>
        </p:nvPicPr>
        <p:blipFill>
          <a:blip r:embed="rId3"/>
          <a:stretch>
            <a:fillRect/>
          </a:stretch>
        </p:blipFill>
        <p:spPr>
          <a:xfrm>
            <a:off x="8677955" y="1956972"/>
            <a:ext cx="3000375" cy="1514475"/>
          </a:xfrm>
          <a:prstGeom prst="rect">
            <a:avLst/>
          </a:prstGeom>
        </p:spPr>
      </p:pic>
      <p:pic>
        <p:nvPicPr>
          <p:cNvPr id="12" name="Picture 11">
            <a:extLst>
              <a:ext uri="{FF2B5EF4-FFF2-40B4-BE49-F238E27FC236}">
                <a16:creationId xmlns:a16="http://schemas.microsoft.com/office/drawing/2014/main" id="{1A684C1C-29E1-4E80-8FB1-C1E622CE6E16}"/>
              </a:ext>
            </a:extLst>
          </p:cNvPr>
          <p:cNvPicPr>
            <a:picLocks noChangeAspect="1"/>
          </p:cNvPicPr>
          <p:nvPr/>
        </p:nvPicPr>
        <p:blipFill>
          <a:blip r:embed="rId4"/>
          <a:stretch>
            <a:fillRect/>
          </a:stretch>
        </p:blipFill>
        <p:spPr>
          <a:xfrm>
            <a:off x="8677955" y="4169820"/>
            <a:ext cx="1884825" cy="990010"/>
          </a:xfrm>
          <a:prstGeom prst="rect">
            <a:avLst/>
          </a:prstGeom>
        </p:spPr>
      </p:pic>
    </p:spTree>
    <p:extLst>
      <p:ext uri="{BB962C8B-B14F-4D97-AF65-F5344CB8AC3E}">
        <p14:creationId xmlns:p14="http://schemas.microsoft.com/office/powerpoint/2010/main" val="2673900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2" descr="🔥 People Business PowerPoint Background Download | CBEditz">
            <a:extLst>
              <a:ext uri="{FF2B5EF4-FFF2-40B4-BE49-F238E27FC236}">
                <a16:creationId xmlns:a16="http://schemas.microsoft.com/office/drawing/2014/main" id="{43DC8362-CA16-4AA7-9030-0EAD90CECE05}"/>
              </a:ext>
            </a:extLst>
          </p:cNvPr>
          <p:cNvPicPr>
            <a:picLocks noChangeAspect="1" noChangeArrowheads="1"/>
          </p:cNvPicPr>
          <p:nvPr/>
        </p:nvPicPr>
        <p:blipFill>
          <a:blip r:embed="rId2">
            <a:alphaModFix amt="22000"/>
            <a:extLst>
              <a:ext uri="{28A0092B-C50C-407E-A947-70E740481C1C}">
                <a14:useLocalDpi xmlns:a14="http://schemas.microsoft.com/office/drawing/2010/main" val="0"/>
              </a:ext>
            </a:extLst>
          </a:blip>
          <a:srcRect/>
          <a:stretch>
            <a:fillRect/>
          </a:stretch>
        </p:blipFill>
        <p:spPr bwMode="auto">
          <a:xfrm>
            <a:off x="0" y="1"/>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C7590DA7-7487-47C8-B7AB-0B1EF2CC0299}"/>
              </a:ext>
            </a:extLst>
          </p:cNvPr>
          <p:cNvSpPr>
            <a:spLocks noGrp="1"/>
          </p:cNvSpPr>
          <p:nvPr>
            <p:ph type="title"/>
          </p:nvPr>
        </p:nvSpPr>
        <p:spPr>
          <a:xfrm>
            <a:off x="266700" y="0"/>
            <a:ext cx="10515600" cy="1325563"/>
          </a:xfrm>
        </p:spPr>
        <p:txBody>
          <a:bodyPr/>
          <a:lstStyle/>
          <a:p>
            <a:r>
              <a:rPr lang="en-US" b="1" dirty="0">
                <a:solidFill>
                  <a:srgbClr val="FF0000"/>
                </a:solidFill>
                <a:latin typeface="Times New Roman" panose="02020603050405020304" pitchFamily="18" charset="0"/>
                <a:cs typeface="Times New Roman" panose="02020603050405020304" pitchFamily="18" charset="0"/>
              </a:rPr>
              <a:t>ANALYSIS</a:t>
            </a:r>
          </a:p>
        </p:txBody>
      </p:sp>
      <p:sp>
        <p:nvSpPr>
          <p:cNvPr id="3" name="TextBox 2">
            <a:extLst>
              <a:ext uri="{FF2B5EF4-FFF2-40B4-BE49-F238E27FC236}">
                <a16:creationId xmlns:a16="http://schemas.microsoft.com/office/drawing/2014/main" id="{F38C0B67-DB00-4600-ADA8-E317B43AECA2}"/>
              </a:ext>
            </a:extLst>
          </p:cNvPr>
          <p:cNvSpPr txBox="1"/>
          <p:nvPr/>
        </p:nvSpPr>
        <p:spPr>
          <a:xfrm>
            <a:off x="1200150" y="1325563"/>
            <a:ext cx="7669530" cy="492443"/>
          </a:xfrm>
          <a:prstGeom prst="rect">
            <a:avLst/>
          </a:prstGeom>
          <a:noFill/>
        </p:spPr>
        <p:txBody>
          <a:bodyPr wrap="square" rtlCol="0">
            <a:spAutoFit/>
          </a:bodyPr>
          <a:lstStyle/>
          <a:p>
            <a:r>
              <a:rPr lang="en-US" sz="2600" b="1" dirty="0">
                <a:latin typeface="Times New Roman" panose="02020603050405020304" pitchFamily="18" charset="0"/>
                <a:cs typeface="Times New Roman" panose="02020603050405020304" pitchFamily="18" charset="0"/>
              </a:rPr>
              <a:t>4. LEAVE AND ABSENCE PATTERNS</a:t>
            </a:r>
          </a:p>
        </p:txBody>
      </p:sp>
      <p:sp>
        <p:nvSpPr>
          <p:cNvPr id="4" name="TextBox 3">
            <a:extLst>
              <a:ext uri="{FF2B5EF4-FFF2-40B4-BE49-F238E27FC236}">
                <a16:creationId xmlns:a16="http://schemas.microsoft.com/office/drawing/2014/main" id="{3217E4F2-A74D-4604-B4D1-689A455C54E8}"/>
              </a:ext>
            </a:extLst>
          </p:cNvPr>
          <p:cNvSpPr txBox="1"/>
          <p:nvPr/>
        </p:nvSpPr>
        <p:spPr>
          <a:xfrm>
            <a:off x="2819400" y="1994217"/>
            <a:ext cx="5410200" cy="338554"/>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E. How do leave days correlate with payroll amounts?</a:t>
            </a:r>
          </a:p>
        </p:txBody>
      </p:sp>
      <p:graphicFrame>
        <p:nvGraphicFramePr>
          <p:cNvPr id="5" name="Table 5">
            <a:extLst>
              <a:ext uri="{FF2B5EF4-FFF2-40B4-BE49-F238E27FC236}">
                <a16:creationId xmlns:a16="http://schemas.microsoft.com/office/drawing/2014/main" id="{7692B7F1-72B7-4924-9AEB-BA3D824D02C5}"/>
              </a:ext>
            </a:extLst>
          </p:cNvPr>
          <p:cNvGraphicFramePr>
            <a:graphicFrameLocks noGrp="1"/>
          </p:cNvGraphicFramePr>
          <p:nvPr>
            <p:extLst>
              <p:ext uri="{D42A27DB-BD31-4B8C-83A1-F6EECF244321}">
                <p14:modId xmlns:p14="http://schemas.microsoft.com/office/powerpoint/2010/main" val="3020643304"/>
              </p:ext>
            </p:extLst>
          </p:nvPr>
        </p:nvGraphicFramePr>
        <p:xfrm>
          <a:off x="2980872" y="2565718"/>
          <a:ext cx="5511800" cy="1158240"/>
        </p:xfrm>
        <a:graphic>
          <a:graphicData uri="http://schemas.openxmlformats.org/drawingml/2006/table">
            <a:tbl>
              <a:tblPr firstRow="1" bandRow="1">
                <a:tableStyleId>{7DF18680-E054-41AD-8BC1-D1AEF772440D}</a:tableStyleId>
              </a:tblPr>
              <a:tblGrid>
                <a:gridCol w="5511800">
                  <a:extLst>
                    <a:ext uri="{9D8B030D-6E8A-4147-A177-3AD203B41FA5}">
                      <a16:colId xmlns:a16="http://schemas.microsoft.com/office/drawing/2014/main" val="644335605"/>
                    </a:ext>
                  </a:extLst>
                </a:gridCol>
              </a:tblGrid>
              <a:tr h="359834">
                <a:tc>
                  <a:txBody>
                    <a:bodyPr/>
                    <a:lstStyle/>
                    <a:p>
                      <a:r>
                        <a:rPr lang="en-US" dirty="0"/>
                        <a:t>select </a:t>
                      </a:r>
                      <a:r>
                        <a:rPr lang="en-US" dirty="0" err="1"/>
                        <a:t>l.emp_id,count</a:t>
                      </a:r>
                      <a:r>
                        <a:rPr lang="en-US" dirty="0"/>
                        <a:t>(</a:t>
                      </a:r>
                      <a:r>
                        <a:rPr lang="en-US" dirty="0" err="1"/>
                        <a:t>l.leave_id</a:t>
                      </a:r>
                      <a:r>
                        <a:rPr lang="en-US" dirty="0"/>
                        <a:t>) as </a:t>
                      </a:r>
                      <a:r>
                        <a:rPr lang="en-US" dirty="0" err="1"/>
                        <a:t>total_leaves,sum</a:t>
                      </a:r>
                      <a:r>
                        <a:rPr lang="en-US" dirty="0"/>
                        <a:t>(</a:t>
                      </a:r>
                      <a:r>
                        <a:rPr lang="en-US" dirty="0" err="1"/>
                        <a:t>p.total_amount</a:t>
                      </a:r>
                      <a:r>
                        <a:rPr lang="en-US" dirty="0"/>
                        <a:t>) as </a:t>
                      </a:r>
                      <a:r>
                        <a:rPr lang="en-US" dirty="0" err="1"/>
                        <a:t>total_pay</a:t>
                      </a:r>
                      <a:r>
                        <a:rPr lang="en-US" dirty="0"/>
                        <a:t> from leaves l</a:t>
                      </a:r>
                    </a:p>
                    <a:p>
                      <a:r>
                        <a:rPr lang="en-US" dirty="0"/>
                        <a:t>join payroll p</a:t>
                      </a:r>
                    </a:p>
                    <a:p>
                      <a:r>
                        <a:rPr lang="en-US" dirty="0"/>
                        <a:t>on </a:t>
                      </a:r>
                      <a:r>
                        <a:rPr lang="en-US" dirty="0" err="1"/>
                        <a:t>l.emp_id</a:t>
                      </a:r>
                      <a:r>
                        <a:rPr lang="en-US" dirty="0"/>
                        <a:t> = </a:t>
                      </a:r>
                      <a:r>
                        <a:rPr lang="en-US" dirty="0" err="1"/>
                        <a:t>p.emp_id</a:t>
                      </a:r>
                      <a:endParaRPr lang="en-US" dirty="0"/>
                    </a:p>
                    <a:p>
                      <a:r>
                        <a:rPr lang="en-US" dirty="0"/>
                        <a:t>group by </a:t>
                      </a:r>
                      <a:r>
                        <a:rPr lang="en-US" dirty="0" err="1"/>
                        <a:t>l.emp_id</a:t>
                      </a:r>
                      <a:r>
                        <a:rPr lang="en-US" dirty="0"/>
                        <a:t>;</a:t>
                      </a:r>
                    </a:p>
                  </a:txBody>
                  <a:tcPr/>
                </a:tc>
                <a:extLst>
                  <a:ext uri="{0D108BD9-81ED-4DB2-BD59-A6C34878D82A}">
                    <a16:rowId xmlns:a16="http://schemas.microsoft.com/office/drawing/2014/main" val="370446795"/>
                  </a:ext>
                </a:extLst>
              </a:tr>
            </a:tbl>
          </a:graphicData>
        </a:graphic>
      </p:graphicFrame>
      <p:pic>
        <p:nvPicPr>
          <p:cNvPr id="7" name="Picture 6">
            <a:extLst>
              <a:ext uri="{FF2B5EF4-FFF2-40B4-BE49-F238E27FC236}">
                <a16:creationId xmlns:a16="http://schemas.microsoft.com/office/drawing/2014/main" id="{77A83B68-7C42-4478-B710-3D4E5001684C}"/>
              </a:ext>
            </a:extLst>
          </p:cNvPr>
          <p:cNvPicPr>
            <a:picLocks noChangeAspect="1"/>
          </p:cNvPicPr>
          <p:nvPr/>
        </p:nvPicPr>
        <p:blipFill>
          <a:blip r:embed="rId3"/>
          <a:stretch>
            <a:fillRect/>
          </a:stretch>
        </p:blipFill>
        <p:spPr>
          <a:xfrm>
            <a:off x="4376737" y="4259625"/>
            <a:ext cx="2295525" cy="1495425"/>
          </a:xfrm>
          <a:prstGeom prst="rect">
            <a:avLst/>
          </a:prstGeom>
        </p:spPr>
      </p:pic>
    </p:spTree>
    <p:extLst>
      <p:ext uri="{BB962C8B-B14F-4D97-AF65-F5344CB8AC3E}">
        <p14:creationId xmlns:p14="http://schemas.microsoft.com/office/powerpoint/2010/main" val="37884183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2" descr="🔥 People Business PowerPoint Background Download | CBEditz">
            <a:extLst>
              <a:ext uri="{FF2B5EF4-FFF2-40B4-BE49-F238E27FC236}">
                <a16:creationId xmlns:a16="http://schemas.microsoft.com/office/drawing/2014/main" id="{F4D1D9B9-339A-4FDC-99F8-2A6F326743EE}"/>
              </a:ext>
            </a:extLst>
          </p:cNvPr>
          <p:cNvPicPr>
            <a:picLocks noChangeAspect="1" noChangeArrowheads="1"/>
          </p:cNvPicPr>
          <p:nvPr/>
        </p:nvPicPr>
        <p:blipFill>
          <a:blip r:embed="rId2">
            <a:alphaModFix amt="22000"/>
            <a:extLst>
              <a:ext uri="{28A0092B-C50C-407E-A947-70E740481C1C}">
                <a14:useLocalDpi xmlns:a14="http://schemas.microsoft.com/office/drawing/2010/main" val="0"/>
              </a:ext>
            </a:extLst>
          </a:blip>
          <a:srcRect/>
          <a:stretch>
            <a:fillRect/>
          </a:stretch>
        </p:blipFill>
        <p:spPr bwMode="auto">
          <a:xfrm>
            <a:off x="0" y="1"/>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C7590DA7-7487-47C8-B7AB-0B1EF2CC0299}"/>
              </a:ext>
            </a:extLst>
          </p:cNvPr>
          <p:cNvSpPr>
            <a:spLocks noGrp="1"/>
          </p:cNvSpPr>
          <p:nvPr>
            <p:ph type="title"/>
          </p:nvPr>
        </p:nvSpPr>
        <p:spPr>
          <a:xfrm>
            <a:off x="266700" y="0"/>
            <a:ext cx="10515600" cy="1325563"/>
          </a:xfrm>
        </p:spPr>
        <p:txBody>
          <a:bodyPr/>
          <a:lstStyle/>
          <a:p>
            <a:r>
              <a:rPr lang="en-US" b="1" dirty="0">
                <a:solidFill>
                  <a:srgbClr val="FF0000"/>
                </a:solidFill>
                <a:latin typeface="Times New Roman" panose="02020603050405020304" pitchFamily="18" charset="0"/>
                <a:cs typeface="Times New Roman" panose="02020603050405020304" pitchFamily="18" charset="0"/>
              </a:rPr>
              <a:t>ANALYSIS</a:t>
            </a:r>
          </a:p>
        </p:txBody>
      </p:sp>
      <p:sp>
        <p:nvSpPr>
          <p:cNvPr id="3" name="TextBox 2">
            <a:extLst>
              <a:ext uri="{FF2B5EF4-FFF2-40B4-BE49-F238E27FC236}">
                <a16:creationId xmlns:a16="http://schemas.microsoft.com/office/drawing/2014/main" id="{F38C0B67-DB00-4600-ADA8-E317B43AECA2}"/>
              </a:ext>
            </a:extLst>
          </p:cNvPr>
          <p:cNvSpPr txBox="1"/>
          <p:nvPr/>
        </p:nvSpPr>
        <p:spPr>
          <a:xfrm>
            <a:off x="1200150" y="1325563"/>
            <a:ext cx="7669530" cy="492443"/>
          </a:xfrm>
          <a:prstGeom prst="rect">
            <a:avLst/>
          </a:prstGeom>
          <a:noFill/>
        </p:spPr>
        <p:txBody>
          <a:bodyPr wrap="square" rtlCol="0">
            <a:spAutoFit/>
          </a:bodyPr>
          <a:lstStyle/>
          <a:p>
            <a:r>
              <a:rPr lang="en-US" sz="2600" b="1" dirty="0">
                <a:latin typeface="Times New Roman" panose="02020603050405020304" pitchFamily="18" charset="0"/>
                <a:cs typeface="Times New Roman" panose="02020603050405020304" pitchFamily="18" charset="0"/>
              </a:rPr>
              <a:t>5. PAYROLL AND COMPENSATION ANALYSIS</a:t>
            </a:r>
          </a:p>
        </p:txBody>
      </p:sp>
      <p:sp>
        <p:nvSpPr>
          <p:cNvPr id="4" name="TextBox 3">
            <a:extLst>
              <a:ext uri="{FF2B5EF4-FFF2-40B4-BE49-F238E27FC236}">
                <a16:creationId xmlns:a16="http://schemas.microsoft.com/office/drawing/2014/main" id="{3217E4F2-A74D-4604-B4D1-689A455C54E8}"/>
              </a:ext>
            </a:extLst>
          </p:cNvPr>
          <p:cNvSpPr txBox="1"/>
          <p:nvPr/>
        </p:nvSpPr>
        <p:spPr>
          <a:xfrm>
            <a:off x="1511300" y="1956972"/>
            <a:ext cx="5410200" cy="338554"/>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A. What is the total monthly payroll processed?</a:t>
            </a:r>
          </a:p>
        </p:txBody>
      </p:sp>
      <p:graphicFrame>
        <p:nvGraphicFramePr>
          <p:cNvPr id="5" name="Table 5">
            <a:extLst>
              <a:ext uri="{FF2B5EF4-FFF2-40B4-BE49-F238E27FC236}">
                <a16:creationId xmlns:a16="http://schemas.microsoft.com/office/drawing/2014/main" id="{7692B7F1-72B7-4924-9AEB-BA3D824D02C5}"/>
              </a:ext>
            </a:extLst>
          </p:cNvPr>
          <p:cNvGraphicFramePr>
            <a:graphicFrameLocks noGrp="1"/>
          </p:cNvGraphicFramePr>
          <p:nvPr>
            <p:extLst>
              <p:ext uri="{D42A27DB-BD31-4B8C-83A1-F6EECF244321}">
                <p14:modId xmlns:p14="http://schemas.microsoft.com/office/powerpoint/2010/main" val="1532734648"/>
              </p:ext>
            </p:extLst>
          </p:nvPr>
        </p:nvGraphicFramePr>
        <p:xfrm>
          <a:off x="1511300" y="2434492"/>
          <a:ext cx="5511800" cy="359834"/>
        </p:xfrm>
        <a:graphic>
          <a:graphicData uri="http://schemas.openxmlformats.org/drawingml/2006/table">
            <a:tbl>
              <a:tblPr firstRow="1" bandRow="1">
                <a:tableStyleId>{7DF18680-E054-41AD-8BC1-D1AEF772440D}</a:tableStyleId>
              </a:tblPr>
              <a:tblGrid>
                <a:gridCol w="5511800">
                  <a:extLst>
                    <a:ext uri="{9D8B030D-6E8A-4147-A177-3AD203B41FA5}">
                      <a16:colId xmlns:a16="http://schemas.microsoft.com/office/drawing/2014/main" val="644335605"/>
                    </a:ext>
                  </a:extLst>
                </a:gridCol>
              </a:tblGrid>
              <a:tr h="359834">
                <a:tc>
                  <a:txBody>
                    <a:bodyPr/>
                    <a:lstStyle/>
                    <a:p>
                      <a:r>
                        <a:rPr lang="en-US" dirty="0"/>
                        <a:t>select sum(</a:t>
                      </a:r>
                      <a:r>
                        <a:rPr lang="en-US" dirty="0" err="1"/>
                        <a:t>total_amount</a:t>
                      </a:r>
                      <a:r>
                        <a:rPr lang="en-US" dirty="0"/>
                        <a:t>) as </a:t>
                      </a:r>
                      <a:r>
                        <a:rPr lang="en-US" dirty="0" err="1"/>
                        <a:t>monthly_pay</a:t>
                      </a:r>
                      <a:r>
                        <a:rPr lang="en-US" dirty="0"/>
                        <a:t> from payroll;</a:t>
                      </a:r>
                    </a:p>
                  </a:txBody>
                  <a:tcPr/>
                </a:tc>
                <a:extLst>
                  <a:ext uri="{0D108BD9-81ED-4DB2-BD59-A6C34878D82A}">
                    <a16:rowId xmlns:a16="http://schemas.microsoft.com/office/drawing/2014/main" val="370446795"/>
                  </a:ext>
                </a:extLst>
              </a:tr>
            </a:tbl>
          </a:graphicData>
        </a:graphic>
      </p:graphicFrame>
      <p:sp>
        <p:nvSpPr>
          <p:cNvPr id="8" name="TextBox 7">
            <a:extLst>
              <a:ext uri="{FF2B5EF4-FFF2-40B4-BE49-F238E27FC236}">
                <a16:creationId xmlns:a16="http://schemas.microsoft.com/office/drawing/2014/main" id="{584C556A-648C-406C-93F3-092E9C3B1E9A}"/>
              </a:ext>
            </a:extLst>
          </p:cNvPr>
          <p:cNvSpPr txBox="1"/>
          <p:nvPr/>
        </p:nvSpPr>
        <p:spPr>
          <a:xfrm>
            <a:off x="1511300" y="3555081"/>
            <a:ext cx="5702300" cy="338554"/>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B. What is the average bonus given per department?</a:t>
            </a:r>
          </a:p>
        </p:txBody>
      </p:sp>
      <p:graphicFrame>
        <p:nvGraphicFramePr>
          <p:cNvPr id="9" name="Table 5">
            <a:extLst>
              <a:ext uri="{FF2B5EF4-FFF2-40B4-BE49-F238E27FC236}">
                <a16:creationId xmlns:a16="http://schemas.microsoft.com/office/drawing/2014/main" id="{6F0D19C3-B118-4F96-90C0-BE59124D6C08}"/>
              </a:ext>
            </a:extLst>
          </p:cNvPr>
          <p:cNvGraphicFramePr>
            <a:graphicFrameLocks noGrp="1"/>
          </p:cNvGraphicFramePr>
          <p:nvPr>
            <p:extLst>
              <p:ext uri="{D42A27DB-BD31-4B8C-83A1-F6EECF244321}">
                <p14:modId xmlns:p14="http://schemas.microsoft.com/office/powerpoint/2010/main" val="2562355168"/>
              </p:ext>
            </p:extLst>
          </p:nvPr>
        </p:nvGraphicFramePr>
        <p:xfrm>
          <a:off x="1511300" y="4170567"/>
          <a:ext cx="5511800" cy="1158240"/>
        </p:xfrm>
        <a:graphic>
          <a:graphicData uri="http://schemas.openxmlformats.org/drawingml/2006/table">
            <a:tbl>
              <a:tblPr firstRow="1" bandRow="1">
                <a:tableStyleId>{7DF18680-E054-41AD-8BC1-D1AEF772440D}</a:tableStyleId>
              </a:tblPr>
              <a:tblGrid>
                <a:gridCol w="5511800">
                  <a:extLst>
                    <a:ext uri="{9D8B030D-6E8A-4147-A177-3AD203B41FA5}">
                      <a16:colId xmlns:a16="http://schemas.microsoft.com/office/drawing/2014/main" val="644335605"/>
                    </a:ext>
                  </a:extLst>
                </a:gridCol>
              </a:tblGrid>
              <a:tr h="668723">
                <a:tc>
                  <a:txBody>
                    <a:bodyPr/>
                    <a:lstStyle/>
                    <a:p>
                      <a:r>
                        <a:rPr lang="en-US" dirty="0"/>
                        <a:t>select </a:t>
                      </a:r>
                      <a:r>
                        <a:rPr lang="en-US" dirty="0" err="1"/>
                        <a:t>j.jobdept,avg</a:t>
                      </a:r>
                      <a:r>
                        <a:rPr lang="en-US" dirty="0"/>
                        <a:t>(</a:t>
                      </a:r>
                      <a:r>
                        <a:rPr lang="en-US" dirty="0" err="1"/>
                        <a:t>s.bonus</a:t>
                      </a:r>
                      <a:r>
                        <a:rPr lang="en-US" dirty="0"/>
                        <a:t>) as </a:t>
                      </a:r>
                      <a:r>
                        <a:rPr lang="en-US" dirty="0" err="1"/>
                        <a:t>avg_bonus</a:t>
                      </a:r>
                      <a:r>
                        <a:rPr lang="en-US" dirty="0"/>
                        <a:t> from </a:t>
                      </a:r>
                      <a:r>
                        <a:rPr lang="en-US" dirty="0" err="1"/>
                        <a:t>jobdepartment</a:t>
                      </a:r>
                      <a:r>
                        <a:rPr lang="en-US" dirty="0"/>
                        <a:t> j</a:t>
                      </a:r>
                    </a:p>
                    <a:p>
                      <a:r>
                        <a:rPr lang="en-US" dirty="0"/>
                        <a:t>join </a:t>
                      </a:r>
                      <a:r>
                        <a:rPr lang="en-US" dirty="0" err="1"/>
                        <a:t>salarybonus</a:t>
                      </a:r>
                      <a:r>
                        <a:rPr lang="en-US" dirty="0"/>
                        <a:t> s</a:t>
                      </a:r>
                    </a:p>
                    <a:p>
                      <a:r>
                        <a:rPr lang="en-US" dirty="0"/>
                        <a:t>on </a:t>
                      </a:r>
                      <a:r>
                        <a:rPr lang="en-US" dirty="0" err="1"/>
                        <a:t>j.job_id</a:t>
                      </a:r>
                      <a:r>
                        <a:rPr lang="en-US" dirty="0"/>
                        <a:t> = </a:t>
                      </a:r>
                      <a:r>
                        <a:rPr lang="en-US" dirty="0" err="1"/>
                        <a:t>s.job_id</a:t>
                      </a:r>
                      <a:endParaRPr lang="en-US" dirty="0"/>
                    </a:p>
                    <a:p>
                      <a:r>
                        <a:rPr lang="en-US" dirty="0"/>
                        <a:t>group by </a:t>
                      </a:r>
                      <a:r>
                        <a:rPr lang="en-US" dirty="0" err="1"/>
                        <a:t>j.jobdept</a:t>
                      </a:r>
                      <a:r>
                        <a:rPr lang="en-US" dirty="0"/>
                        <a:t>;</a:t>
                      </a:r>
                    </a:p>
                  </a:txBody>
                  <a:tcPr/>
                </a:tc>
                <a:extLst>
                  <a:ext uri="{0D108BD9-81ED-4DB2-BD59-A6C34878D82A}">
                    <a16:rowId xmlns:a16="http://schemas.microsoft.com/office/drawing/2014/main" val="370446795"/>
                  </a:ext>
                </a:extLst>
              </a:tr>
            </a:tbl>
          </a:graphicData>
        </a:graphic>
      </p:graphicFrame>
      <p:pic>
        <p:nvPicPr>
          <p:cNvPr id="10" name="Picture 9">
            <a:extLst>
              <a:ext uri="{FF2B5EF4-FFF2-40B4-BE49-F238E27FC236}">
                <a16:creationId xmlns:a16="http://schemas.microsoft.com/office/drawing/2014/main" id="{4C229CC8-7309-49BB-AE6E-B5ADF5A3B962}"/>
              </a:ext>
            </a:extLst>
          </p:cNvPr>
          <p:cNvPicPr>
            <a:picLocks noChangeAspect="1"/>
          </p:cNvPicPr>
          <p:nvPr/>
        </p:nvPicPr>
        <p:blipFill>
          <a:blip r:embed="rId3"/>
          <a:stretch>
            <a:fillRect/>
          </a:stretch>
        </p:blipFill>
        <p:spPr>
          <a:xfrm>
            <a:off x="8677955" y="2390571"/>
            <a:ext cx="962025" cy="447675"/>
          </a:xfrm>
          <a:prstGeom prst="rect">
            <a:avLst/>
          </a:prstGeom>
        </p:spPr>
      </p:pic>
      <p:pic>
        <p:nvPicPr>
          <p:cNvPr id="13" name="Picture 12">
            <a:extLst>
              <a:ext uri="{FF2B5EF4-FFF2-40B4-BE49-F238E27FC236}">
                <a16:creationId xmlns:a16="http://schemas.microsoft.com/office/drawing/2014/main" id="{12A559AB-FA61-4715-9F87-8DF86825A219}"/>
              </a:ext>
            </a:extLst>
          </p:cNvPr>
          <p:cNvPicPr>
            <a:picLocks noChangeAspect="1"/>
          </p:cNvPicPr>
          <p:nvPr/>
        </p:nvPicPr>
        <p:blipFill>
          <a:blip r:embed="rId4"/>
          <a:stretch>
            <a:fillRect/>
          </a:stretch>
        </p:blipFill>
        <p:spPr>
          <a:xfrm>
            <a:off x="8683398" y="3555081"/>
            <a:ext cx="1943100" cy="1895475"/>
          </a:xfrm>
          <a:prstGeom prst="rect">
            <a:avLst/>
          </a:prstGeom>
        </p:spPr>
      </p:pic>
    </p:spTree>
    <p:extLst>
      <p:ext uri="{BB962C8B-B14F-4D97-AF65-F5344CB8AC3E}">
        <p14:creationId xmlns:p14="http://schemas.microsoft.com/office/powerpoint/2010/main" val="25810157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2" descr="🔥 People Business PowerPoint Background Download | CBEditz">
            <a:extLst>
              <a:ext uri="{FF2B5EF4-FFF2-40B4-BE49-F238E27FC236}">
                <a16:creationId xmlns:a16="http://schemas.microsoft.com/office/drawing/2014/main" id="{33B5D416-C1B3-420A-A42D-E83695DD99BF}"/>
              </a:ext>
            </a:extLst>
          </p:cNvPr>
          <p:cNvPicPr>
            <a:picLocks noChangeAspect="1" noChangeArrowheads="1"/>
          </p:cNvPicPr>
          <p:nvPr/>
        </p:nvPicPr>
        <p:blipFill>
          <a:blip r:embed="rId2">
            <a:alphaModFix amt="22000"/>
            <a:extLst>
              <a:ext uri="{28A0092B-C50C-407E-A947-70E740481C1C}">
                <a14:useLocalDpi xmlns:a14="http://schemas.microsoft.com/office/drawing/2010/main" val="0"/>
              </a:ext>
            </a:extLst>
          </a:blip>
          <a:srcRect/>
          <a:stretch>
            <a:fillRect/>
          </a:stretch>
        </p:blipFill>
        <p:spPr bwMode="auto">
          <a:xfrm>
            <a:off x="0" y="-21019"/>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C7590DA7-7487-47C8-B7AB-0B1EF2CC0299}"/>
              </a:ext>
            </a:extLst>
          </p:cNvPr>
          <p:cNvSpPr>
            <a:spLocks noGrp="1"/>
          </p:cNvSpPr>
          <p:nvPr>
            <p:ph type="title"/>
          </p:nvPr>
        </p:nvSpPr>
        <p:spPr>
          <a:xfrm>
            <a:off x="266700" y="0"/>
            <a:ext cx="10515600" cy="1325563"/>
          </a:xfrm>
        </p:spPr>
        <p:txBody>
          <a:bodyPr/>
          <a:lstStyle/>
          <a:p>
            <a:r>
              <a:rPr lang="en-US" b="1" dirty="0">
                <a:solidFill>
                  <a:srgbClr val="FF0000"/>
                </a:solidFill>
                <a:latin typeface="Times New Roman" panose="02020603050405020304" pitchFamily="18" charset="0"/>
                <a:cs typeface="Times New Roman" panose="02020603050405020304" pitchFamily="18" charset="0"/>
              </a:rPr>
              <a:t>ANALYSIS</a:t>
            </a:r>
          </a:p>
        </p:txBody>
      </p:sp>
      <p:sp>
        <p:nvSpPr>
          <p:cNvPr id="3" name="TextBox 2">
            <a:extLst>
              <a:ext uri="{FF2B5EF4-FFF2-40B4-BE49-F238E27FC236}">
                <a16:creationId xmlns:a16="http://schemas.microsoft.com/office/drawing/2014/main" id="{F38C0B67-DB00-4600-ADA8-E317B43AECA2}"/>
              </a:ext>
            </a:extLst>
          </p:cNvPr>
          <p:cNvSpPr txBox="1"/>
          <p:nvPr/>
        </p:nvSpPr>
        <p:spPr>
          <a:xfrm>
            <a:off x="1200150" y="1325563"/>
            <a:ext cx="7669530" cy="492443"/>
          </a:xfrm>
          <a:prstGeom prst="rect">
            <a:avLst/>
          </a:prstGeom>
          <a:noFill/>
        </p:spPr>
        <p:txBody>
          <a:bodyPr wrap="square" rtlCol="0">
            <a:spAutoFit/>
          </a:bodyPr>
          <a:lstStyle/>
          <a:p>
            <a:r>
              <a:rPr lang="en-US" sz="2600" b="1" dirty="0">
                <a:latin typeface="Times New Roman" panose="02020603050405020304" pitchFamily="18" charset="0"/>
                <a:cs typeface="Times New Roman" panose="02020603050405020304" pitchFamily="18" charset="0"/>
              </a:rPr>
              <a:t>5. PAYROLL AND COMPENSATION ANALYSIS</a:t>
            </a:r>
          </a:p>
        </p:txBody>
      </p:sp>
      <p:sp>
        <p:nvSpPr>
          <p:cNvPr id="4" name="TextBox 3">
            <a:extLst>
              <a:ext uri="{FF2B5EF4-FFF2-40B4-BE49-F238E27FC236}">
                <a16:creationId xmlns:a16="http://schemas.microsoft.com/office/drawing/2014/main" id="{3217E4F2-A74D-4604-B4D1-689A455C54E8}"/>
              </a:ext>
            </a:extLst>
          </p:cNvPr>
          <p:cNvSpPr txBox="1"/>
          <p:nvPr/>
        </p:nvSpPr>
        <p:spPr>
          <a:xfrm>
            <a:off x="1511300" y="1956972"/>
            <a:ext cx="5410200" cy="338554"/>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C. Which department receives the highest total bonuses?</a:t>
            </a:r>
          </a:p>
        </p:txBody>
      </p:sp>
      <p:graphicFrame>
        <p:nvGraphicFramePr>
          <p:cNvPr id="5" name="Table 5">
            <a:extLst>
              <a:ext uri="{FF2B5EF4-FFF2-40B4-BE49-F238E27FC236}">
                <a16:creationId xmlns:a16="http://schemas.microsoft.com/office/drawing/2014/main" id="{7692B7F1-72B7-4924-9AEB-BA3D824D02C5}"/>
              </a:ext>
            </a:extLst>
          </p:cNvPr>
          <p:cNvGraphicFramePr>
            <a:graphicFrameLocks noGrp="1"/>
          </p:cNvGraphicFramePr>
          <p:nvPr>
            <p:extLst>
              <p:ext uri="{D42A27DB-BD31-4B8C-83A1-F6EECF244321}">
                <p14:modId xmlns:p14="http://schemas.microsoft.com/office/powerpoint/2010/main" val="685692420"/>
              </p:ext>
            </p:extLst>
          </p:nvPr>
        </p:nvGraphicFramePr>
        <p:xfrm>
          <a:off x="1511300" y="2434492"/>
          <a:ext cx="5511800" cy="1371600"/>
        </p:xfrm>
        <a:graphic>
          <a:graphicData uri="http://schemas.openxmlformats.org/drawingml/2006/table">
            <a:tbl>
              <a:tblPr firstRow="1" bandRow="1">
                <a:tableStyleId>{7DF18680-E054-41AD-8BC1-D1AEF772440D}</a:tableStyleId>
              </a:tblPr>
              <a:tblGrid>
                <a:gridCol w="5511800">
                  <a:extLst>
                    <a:ext uri="{9D8B030D-6E8A-4147-A177-3AD203B41FA5}">
                      <a16:colId xmlns:a16="http://schemas.microsoft.com/office/drawing/2014/main" val="644335605"/>
                    </a:ext>
                  </a:extLst>
                </a:gridCol>
              </a:tblGrid>
              <a:tr h="359834">
                <a:tc>
                  <a:txBody>
                    <a:bodyPr/>
                    <a:lstStyle/>
                    <a:p>
                      <a:r>
                        <a:rPr lang="en-US" dirty="0"/>
                        <a:t>select </a:t>
                      </a:r>
                      <a:r>
                        <a:rPr lang="en-US" dirty="0" err="1"/>
                        <a:t>j.jobdept,sum</a:t>
                      </a:r>
                      <a:r>
                        <a:rPr lang="en-US" dirty="0"/>
                        <a:t>(</a:t>
                      </a:r>
                      <a:r>
                        <a:rPr lang="en-US" dirty="0" err="1"/>
                        <a:t>s.bonus</a:t>
                      </a:r>
                      <a:r>
                        <a:rPr lang="en-US" dirty="0"/>
                        <a:t>) as </a:t>
                      </a:r>
                      <a:r>
                        <a:rPr lang="en-US" dirty="0" err="1"/>
                        <a:t>total_bonus</a:t>
                      </a:r>
                      <a:r>
                        <a:rPr lang="en-US" dirty="0"/>
                        <a:t> from </a:t>
                      </a:r>
                      <a:r>
                        <a:rPr lang="en-US" dirty="0" err="1"/>
                        <a:t>jobdepartment</a:t>
                      </a:r>
                      <a:r>
                        <a:rPr lang="en-US" dirty="0"/>
                        <a:t> j</a:t>
                      </a:r>
                    </a:p>
                    <a:p>
                      <a:r>
                        <a:rPr lang="en-US" dirty="0"/>
                        <a:t>join </a:t>
                      </a:r>
                      <a:r>
                        <a:rPr lang="en-US" dirty="0" err="1"/>
                        <a:t>salarybonus</a:t>
                      </a:r>
                      <a:r>
                        <a:rPr lang="en-US" dirty="0"/>
                        <a:t> s</a:t>
                      </a:r>
                    </a:p>
                    <a:p>
                      <a:r>
                        <a:rPr lang="en-US" dirty="0"/>
                        <a:t>on </a:t>
                      </a:r>
                      <a:r>
                        <a:rPr lang="en-US" dirty="0" err="1"/>
                        <a:t>j.job_id</a:t>
                      </a:r>
                      <a:r>
                        <a:rPr lang="en-US" dirty="0"/>
                        <a:t> = </a:t>
                      </a:r>
                      <a:r>
                        <a:rPr lang="en-US" dirty="0" err="1"/>
                        <a:t>s.job_id</a:t>
                      </a:r>
                      <a:endParaRPr lang="en-US" dirty="0"/>
                    </a:p>
                    <a:p>
                      <a:r>
                        <a:rPr lang="en-US" dirty="0"/>
                        <a:t>group by </a:t>
                      </a:r>
                      <a:r>
                        <a:rPr lang="en-US" dirty="0" err="1"/>
                        <a:t>j.jobdept</a:t>
                      </a:r>
                      <a:endParaRPr lang="en-US" dirty="0"/>
                    </a:p>
                    <a:p>
                      <a:r>
                        <a:rPr lang="en-US" dirty="0"/>
                        <a:t>order by </a:t>
                      </a:r>
                      <a:r>
                        <a:rPr lang="en-US" dirty="0" err="1"/>
                        <a:t>total_bonus</a:t>
                      </a:r>
                      <a:r>
                        <a:rPr lang="en-US" dirty="0"/>
                        <a:t> desc;</a:t>
                      </a:r>
                    </a:p>
                  </a:txBody>
                  <a:tcPr/>
                </a:tc>
                <a:extLst>
                  <a:ext uri="{0D108BD9-81ED-4DB2-BD59-A6C34878D82A}">
                    <a16:rowId xmlns:a16="http://schemas.microsoft.com/office/drawing/2014/main" val="370446795"/>
                  </a:ext>
                </a:extLst>
              </a:tr>
            </a:tbl>
          </a:graphicData>
        </a:graphic>
      </p:graphicFrame>
      <p:sp>
        <p:nvSpPr>
          <p:cNvPr id="8" name="TextBox 7">
            <a:extLst>
              <a:ext uri="{FF2B5EF4-FFF2-40B4-BE49-F238E27FC236}">
                <a16:creationId xmlns:a16="http://schemas.microsoft.com/office/drawing/2014/main" id="{584C556A-648C-406C-93F3-092E9C3B1E9A}"/>
              </a:ext>
            </a:extLst>
          </p:cNvPr>
          <p:cNvSpPr txBox="1"/>
          <p:nvPr/>
        </p:nvSpPr>
        <p:spPr>
          <a:xfrm>
            <a:off x="1511300" y="4000543"/>
            <a:ext cx="5702300" cy="584775"/>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D. What is the average value of </a:t>
            </a:r>
            <a:r>
              <a:rPr lang="en-US" sz="1600" dirty="0" err="1">
                <a:latin typeface="Times New Roman" panose="02020603050405020304" pitchFamily="18" charset="0"/>
                <a:cs typeface="Times New Roman" panose="02020603050405020304" pitchFamily="18" charset="0"/>
              </a:rPr>
              <a:t>total_amount</a:t>
            </a:r>
            <a:r>
              <a:rPr lang="en-US" sz="1600" dirty="0">
                <a:latin typeface="Times New Roman" panose="02020603050405020304" pitchFamily="18" charset="0"/>
                <a:cs typeface="Times New Roman" panose="02020603050405020304" pitchFamily="18" charset="0"/>
              </a:rPr>
              <a:t> after considering leave deductions?</a:t>
            </a:r>
          </a:p>
        </p:txBody>
      </p:sp>
      <p:graphicFrame>
        <p:nvGraphicFramePr>
          <p:cNvPr id="9" name="Table 5">
            <a:extLst>
              <a:ext uri="{FF2B5EF4-FFF2-40B4-BE49-F238E27FC236}">
                <a16:creationId xmlns:a16="http://schemas.microsoft.com/office/drawing/2014/main" id="{6F0D19C3-B118-4F96-90C0-BE59124D6C08}"/>
              </a:ext>
            </a:extLst>
          </p:cNvPr>
          <p:cNvGraphicFramePr>
            <a:graphicFrameLocks noGrp="1"/>
          </p:cNvGraphicFramePr>
          <p:nvPr>
            <p:extLst>
              <p:ext uri="{D42A27DB-BD31-4B8C-83A1-F6EECF244321}">
                <p14:modId xmlns:p14="http://schemas.microsoft.com/office/powerpoint/2010/main" val="81778051"/>
              </p:ext>
            </p:extLst>
          </p:nvPr>
        </p:nvGraphicFramePr>
        <p:xfrm>
          <a:off x="1511300" y="4654391"/>
          <a:ext cx="5511800" cy="505439"/>
        </p:xfrm>
        <a:graphic>
          <a:graphicData uri="http://schemas.openxmlformats.org/drawingml/2006/table">
            <a:tbl>
              <a:tblPr firstRow="1" bandRow="1">
                <a:tableStyleId>{7DF18680-E054-41AD-8BC1-D1AEF772440D}</a:tableStyleId>
              </a:tblPr>
              <a:tblGrid>
                <a:gridCol w="5511800">
                  <a:extLst>
                    <a:ext uri="{9D8B030D-6E8A-4147-A177-3AD203B41FA5}">
                      <a16:colId xmlns:a16="http://schemas.microsoft.com/office/drawing/2014/main" val="644335605"/>
                    </a:ext>
                  </a:extLst>
                </a:gridCol>
              </a:tblGrid>
              <a:tr h="505439">
                <a:tc>
                  <a:txBody>
                    <a:bodyPr/>
                    <a:lstStyle/>
                    <a:p>
                      <a:r>
                        <a:rPr lang="en-US" dirty="0"/>
                        <a:t>select avg(</a:t>
                      </a:r>
                      <a:r>
                        <a:rPr lang="en-US" dirty="0" err="1"/>
                        <a:t>total_amount</a:t>
                      </a:r>
                      <a:r>
                        <a:rPr lang="en-US" dirty="0"/>
                        <a:t>) as </a:t>
                      </a:r>
                      <a:r>
                        <a:rPr lang="en-US" dirty="0" err="1"/>
                        <a:t>avg_net_pay</a:t>
                      </a:r>
                      <a:r>
                        <a:rPr lang="en-US" dirty="0"/>
                        <a:t> from payroll;</a:t>
                      </a:r>
                    </a:p>
                  </a:txBody>
                  <a:tcPr/>
                </a:tc>
                <a:extLst>
                  <a:ext uri="{0D108BD9-81ED-4DB2-BD59-A6C34878D82A}">
                    <a16:rowId xmlns:a16="http://schemas.microsoft.com/office/drawing/2014/main" val="370446795"/>
                  </a:ext>
                </a:extLst>
              </a:tr>
            </a:tbl>
          </a:graphicData>
        </a:graphic>
      </p:graphicFrame>
      <p:pic>
        <p:nvPicPr>
          <p:cNvPr id="10" name="Picture 9">
            <a:extLst>
              <a:ext uri="{FF2B5EF4-FFF2-40B4-BE49-F238E27FC236}">
                <a16:creationId xmlns:a16="http://schemas.microsoft.com/office/drawing/2014/main" id="{14F26E3D-02EC-47E1-8606-99B8520DFE6B}"/>
              </a:ext>
            </a:extLst>
          </p:cNvPr>
          <p:cNvPicPr>
            <a:picLocks noChangeAspect="1"/>
          </p:cNvPicPr>
          <p:nvPr/>
        </p:nvPicPr>
        <p:blipFill>
          <a:blip r:embed="rId3"/>
          <a:stretch>
            <a:fillRect/>
          </a:stretch>
        </p:blipFill>
        <p:spPr>
          <a:xfrm>
            <a:off x="8677955" y="2126249"/>
            <a:ext cx="1809750" cy="1885950"/>
          </a:xfrm>
          <a:prstGeom prst="rect">
            <a:avLst/>
          </a:prstGeom>
        </p:spPr>
      </p:pic>
      <p:pic>
        <p:nvPicPr>
          <p:cNvPr id="13" name="Picture 12">
            <a:extLst>
              <a:ext uri="{FF2B5EF4-FFF2-40B4-BE49-F238E27FC236}">
                <a16:creationId xmlns:a16="http://schemas.microsoft.com/office/drawing/2014/main" id="{25A60D37-D479-4B98-9A4D-2BC2B0ED970F}"/>
              </a:ext>
            </a:extLst>
          </p:cNvPr>
          <p:cNvPicPr>
            <a:picLocks noChangeAspect="1"/>
          </p:cNvPicPr>
          <p:nvPr/>
        </p:nvPicPr>
        <p:blipFill>
          <a:blip r:embed="rId4"/>
          <a:stretch>
            <a:fillRect/>
          </a:stretch>
        </p:blipFill>
        <p:spPr>
          <a:xfrm>
            <a:off x="8677955" y="4441746"/>
            <a:ext cx="1582444" cy="718084"/>
          </a:xfrm>
          <a:prstGeom prst="rect">
            <a:avLst/>
          </a:prstGeom>
        </p:spPr>
      </p:pic>
    </p:spTree>
    <p:extLst>
      <p:ext uri="{BB962C8B-B14F-4D97-AF65-F5344CB8AC3E}">
        <p14:creationId xmlns:p14="http://schemas.microsoft.com/office/powerpoint/2010/main" val="24624280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 People Business PowerPoint Background Download | CBEditz">
            <a:extLst>
              <a:ext uri="{FF2B5EF4-FFF2-40B4-BE49-F238E27FC236}">
                <a16:creationId xmlns:a16="http://schemas.microsoft.com/office/drawing/2014/main" id="{EDAB5467-756D-40AE-AF5D-89330C771542}"/>
              </a:ext>
            </a:extLst>
          </p:cNvPr>
          <p:cNvPicPr>
            <a:picLocks noChangeAspect="1" noChangeArrowheads="1"/>
          </p:cNvPicPr>
          <p:nvPr/>
        </p:nvPicPr>
        <p:blipFill>
          <a:blip r:embed="rId2">
            <a:alphaModFix amt="22000"/>
            <a:extLst>
              <a:ext uri="{28A0092B-C50C-407E-A947-70E740481C1C}">
                <a14:useLocalDpi xmlns:a14="http://schemas.microsoft.com/office/drawing/2010/main" val="0"/>
              </a:ext>
            </a:extLst>
          </a:blip>
          <a:srcRect/>
          <a:stretch>
            <a:fillRect/>
          </a:stretch>
        </p:blipFill>
        <p:spPr bwMode="auto">
          <a:xfrm>
            <a:off x="0" y="1"/>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42EF923A-5904-4EB3-AC9C-5E7E90B286E1}"/>
              </a:ext>
            </a:extLst>
          </p:cNvPr>
          <p:cNvSpPr>
            <a:spLocks noGrp="1"/>
          </p:cNvSpPr>
          <p:nvPr>
            <p:ph type="title"/>
          </p:nvPr>
        </p:nvSpPr>
        <p:spPr>
          <a:xfrm>
            <a:off x="217714" y="0"/>
            <a:ext cx="10515600" cy="1325563"/>
          </a:xfrm>
        </p:spPr>
        <p:txBody>
          <a:bodyPr/>
          <a:lstStyle/>
          <a:p>
            <a:r>
              <a:rPr lang="en-US" b="1" dirty="0">
                <a:solidFill>
                  <a:srgbClr val="FF0000"/>
                </a:solidFill>
                <a:latin typeface="Times New Roman" panose="02020603050405020304" pitchFamily="18" charset="0"/>
                <a:cs typeface="Times New Roman" panose="02020603050405020304" pitchFamily="18" charset="0"/>
              </a:rPr>
              <a:t>KEY</a:t>
            </a:r>
            <a:r>
              <a:rPr lang="en-US" dirty="0"/>
              <a:t> </a:t>
            </a:r>
            <a:r>
              <a:rPr lang="en-US" b="1" dirty="0">
                <a:solidFill>
                  <a:srgbClr val="FF0000"/>
                </a:solidFill>
                <a:latin typeface="Times New Roman" panose="02020603050405020304" pitchFamily="18" charset="0"/>
                <a:cs typeface="Times New Roman" panose="02020603050405020304" pitchFamily="18" charset="0"/>
              </a:rPr>
              <a:t>INSIGHTS</a:t>
            </a:r>
          </a:p>
        </p:txBody>
      </p:sp>
      <p:sp>
        <p:nvSpPr>
          <p:cNvPr id="3" name="Text Placeholder 2">
            <a:extLst>
              <a:ext uri="{FF2B5EF4-FFF2-40B4-BE49-F238E27FC236}">
                <a16:creationId xmlns:a16="http://schemas.microsoft.com/office/drawing/2014/main" id="{FBC899FA-ED2D-418E-907D-5457A23855F7}"/>
              </a:ext>
            </a:extLst>
          </p:cNvPr>
          <p:cNvSpPr>
            <a:spLocks noGrp="1"/>
          </p:cNvSpPr>
          <p:nvPr>
            <p:ph type="body" idx="1"/>
          </p:nvPr>
        </p:nvSpPr>
        <p:spPr>
          <a:xfrm>
            <a:off x="1696107" y="1253331"/>
            <a:ext cx="8799786" cy="5604669"/>
          </a:xfrm>
        </p:spPr>
        <p:txBody>
          <a:bodyPr>
            <a:noAutofit/>
          </a:bodyPr>
          <a:lstStyle/>
          <a:p>
            <a:r>
              <a:rPr lang="en-US" sz="1600" dirty="0">
                <a:latin typeface="Times New Roman" panose="02020603050405020304" pitchFamily="18" charset="0"/>
                <a:cs typeface="Times New Roman" panose="02020603050405020304" pitchFamily="18" charset="0"/>
              </a:rPr>
              <a:t>The company maintains a structured employee management system with multiple departments, job roles, and payroll records.</a:t>
            </a:r>
          </a:p>
          <a:p>
            <a:r>
              <a:rPr lang="en-US" sz="1600" dirty="0">
                <a:latin typeface="Times New Roman" panose="02020603050405020304" pitchFamily="18" charset="0"/>
                <a:cs typeface="Times New Roman" panose="02020603050405020304" pitchFamily="18" charset="0"/>
              </a:rPr>
              <a:t>Employee distribution varies across departments, indicating different operational workforce requirements.</a:t>
            </a:r>
          </a:p>
          <a:p>
            <a:r>
              <a:rPr lang="en-US" sz="1600" dirty="0">
                <a:latin typeface="Times New Roman" panose="02020603050405020304" pitchFamily="18" charset="0"/>
                <a:cs typeface="Times New Roman" panose="02020603050405020304" pitchFamily="18" charset="0"/>
              </a:rPr>
              <a:t>The organization spends a significant amount on employee salaries, highlighting payroll as a major operational expense.</a:t>
            </a:r>
          </a:p>
          <a:p>
            <a:r>
              <a:rPr lang="en-US" sz="1600" dirty="0">
                <a:latin typeface="Times New Roman" panose="02020603050405020304" pitchFamily="18" charset="0"/>
                <a:cs typeface="Times New Roman" panose="02020603050405020304" pitchFamily="18" charset="0"/>
              </a:rPr>
              <a:t>Finance-related roles receive the highest compensation, reflecting the importance of financial leadership within the organization.</a:t>
            </a:r>
          </a:p>
          <a:p>
            <a:r>
              <a:rPr lang="en-US" sz="1600" dirty="0">
                <a:latin typeface="Times New Roman" panose="02020603050405020304" pitchFamily="18" charset="0"/>
                <a:cs typeface="Times New Roman" panose="02020603050405020304" pitchFamily="18" charset="0"/>
              </a:rPr>
              <a:t>The Finance department has the highest salary allocation, suggesting larger budget allocation for financial management functions.</a:t>
            </a:r>
          </a:p>
          <a:p>
            <a:r>
              <a:rPr lang="en-US" sz="1600" dirty="0">
                <a:latin typeface="Times New Roman" panose="02020603050405020304" pitchFamily="18" charset="0"/>
                <a:cs typeface="Times New Roman" panose="02020603050405020304" pitchFamily="18" charset="0"/>
              </a:rPr>
              <a:t>Many employees possess multiple qualifications, demonstrating a skilled and professionally qualified workforce.</a:t>
            </a:r>
          </a:p>
          <a:p>
            <a:r>
              <a:rPr lang="en-US" sz="1600" dirty="0">
                <a:latin typeface="Times New Roman" panose="02020603050405020304" pitchFamily="18" charset="0"/>
                <a:cs typeface="Times New Roman" panose="02020603050405020304" pitchFamily="18" charset="0"/>
              </a:rPr>
              <a:t>Leave patterns differ among employees and departments, providing insights into employee availability and workforce planning.</a:t>
            </a:r>
          </a:p>
          <a:p>
            <a:r>
              <a:rPr lang="en-US" sz="1600" dirty="0">
                <a:latin typeface="Times New Roman" panose="02020603050405020304" pitchFamily="18" charset="0"/>
                <a:cs typeface="Times New Roman" panose="02020603050405020304" pitchFamily="18" charset="0"/>
              </a:rPr>
              <a:t>Bonuses and payroll amounts vary by department, indicating a performance-based compensation structure.</a:t>
            </a:r>
          </a:p>
        </p:txBody>
      </p:sp>
    </p:spTree>
    <p:extLst>
      <p:ext uri="{BB962C8B-B14F-4D97-AF65-F5344CB8AC3E}">
        <p14:creationId xmlns:p14="http://schemas.microsoft.com/office/powerpoint/2010/main" val="322250659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 People Business PowerPoint Background Download | CBEditz">
            <a:extLst>
              <a:ext uri="{FF2B5EF4-FFF2-40B4-BE49-F238E27FC236}">
                <a16:creationId xmlns:a16="http://schemas.microsoft.com/office/drawing/2014/main" id="{144FDC95-D236-4709-B2C7-ED552843EB0E}"/>
              </a:ext>
            </a:extLst>
          </p:cNvPr>
          <p:cNvPicPr>
            <a:picLocks noChangeAspect="1" noChangeArrowheads="1"/>
          </p:cNvPicPr>
          <p:nvPr/>
        </p:nvPicPr>
        <p:blipFill>
          <a:blip r:embed="rId2">
            <a:alphaModFix amt="22000"/>
            <a:extLst>
              <a:ext uri="{28A0092B-C50C-407E-A947-70E740481C1C}">
                <a14:useLocalDpi xmlns:a14="http://schemas.microsoft.com/office/drawing/2010/main" val="0"/>
              </a:ext>
            </a:extLst>
          </a:blip>
          <a:srcRect/>
          <a:stretch>
            <a:fillRect/>
          </a:stretch>
        </p:blipFill>
        <p:spPr bwMode="auto">
          <a:xfrm>
            <a:off x="0" y="1"/>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42EF923A-5904-4EB3-AC9C-5E7E90B286E1}"/>
              </a:ext>
            </a:extLst>
          </p:cNvPr>
          <p:cNvSpPr>
            <a:spLocks noGrp="1"/>
          </p:cNvSpPr>
          <p:nvPr>
            <p:ph type="title"/>
          </p:nvPr>
        </p:nvSpPr>
        <p:spPr>
          <a:xfrm>
            <a:off x="207204" y="0"/>
            <a:ext cx="10515600" cy="1325563"/>
          </a:xfrm>
        </p:spPr>
        <p:txBody>
          <a:bodyPr/>
          <a:lstStyle/>
          <a:p>
            <a:r>
              <a:rPr lang="en-US" b="1" dirty="0">
                <a:solidFill>
                  <a:srgbClr val="FF0000"/>
                </a:solidFill>
                <a:latin typeface="Times New Roman" panose="02020603050405020304" pitchFamily="18" charset="0"/>
                <a:cs typeface="Times New Roman" panose="02020603050405020304" pitchFamily="18" charset="0"/>
              </a:rPr>
              <a:t>RECOMMENDATIONS</a:t>
            </a:r>
          </a:p>
        </p:txBody>
      </p:sp>
      <p:sp>
        <p:nvSpPr>
          <p:cNvPr id="3" name="Text Placeholder 2">
            <a:extLst>
              <a:ext uri="{FF2B5EF4-FFF2-40B4-BE49-F238E27FC236}">
                <a16:creationId xmlns:a16="http://schemas.microsoft.com/office/drawing/2014/main" id="{FBC899FA-ED2D-418E-907D-5457A23855F7}"/>
              </a:ext>
            </a:extLst>
          </p:cNvPr>
          <p:cNvSpPr>
            <a:spLocks noGrp="1"/>
          </p:cNvSpPr>
          <p:nvPr>
            <p:ph type="body" idx="1"/>
          </p:nvPr>
        </p:nvSpPr>
        <p:spPr>
          <a:xfrm>
            <a:off x="2247900" y="1325563"/>
            <a:ext cx="7696200" cy="5316975"/>
          </a:xfrm>
        </p:spPr>
        <p:txBody>
          <a:bodyPr>
            <a:noAutofit/>
          </a:bodyPr>
          <a:lstStyle/>
          <a:p>
            <a:r>
              <a:rPr lang="en-US" sz="1600" b="1" dirty="0">
                <a:latin typeface="Times New Roman" panose="02020603050405020304" pitchFamily="18" charset="0"/>
                <a:cs typeface="Times New Roman" panose="02020603050405020304" pitchFamily="18" charset="0"/>
              </a:rPr>
              <a:t>Balance Workforce Distribution: </a:t>
            </a:r>
            <a:r>
              <a:rPr lang="en-US" sz="1600" dirty="0">
                <a:latin typeface="Times New Roman" panose="02020603050405020304" pitchFamily="18" charset="0"/>
                <a:cs typeface="Times New Roman" panose="02020603050405020304" pitchFamily="18" charset="0"/>
              </a:rPr>
              <a:t>Ensure departments with higher workloads have adequate staffing to maintain productivity.</a:t>
            </a:r>
          </a:p>
          <a:p>
            <a:r>
              <a:rPr lang="en-US" sz="1600" b="1" dirty="0">
                <a:latin typeface="Times New Roman" panose="02020603050405020304" pitchFamily="18" charset="0"/>
                <a:cs typeface="Times New Roman" panose="02020603050405020304" pitchFamily="18" charset="0"/>
              </a:rPr>
              <a:t>Optimize Salary Structure:</a:t>
            </a:r>
            <a:r>
              <a:rPr lang="en-US" sz="1600" dirty="0">
                <a:latin typeface="Times New Roman" panose="02020603050405020304" pitchFamily="18" charset="0"/>
                <a:cs typeface="Times New Roman" panose="02020603050405020304" pitchFamily="18" charset="0"/>
              </a:rPr>
              <a:t> Regularly review compensation policies to maintain fairness and control payroll expenses.</a:t>
            </a:r>
          </a:p>
          <a:p>
            <a:r>
              <a:rPr lang="en-US" sz="1600" b="1" dirty="0">
                <a:latin typeface="Times New Roman" panose="02020603050405020304" pitchFamily="18" charset="0"/>
                <a:cs typeface="Times New Roman" panose="02020603050405020304" pitchFamily="18" charset="0"/>
              </a:rPr>
              <a:t>Implement Performance-Based Incentives: </a:t>
            </a:r>
            <a:r>
              <a:rPr lang="en-US" sz="1600" dirty="0">
                <a:latin typeface="Times New Roman" panose="02020603050405020304" pitchFamily="18" charset="0"/>
                <a:cs typeface="Times New Roman" panose="02020603050405020304" pitchFamily="18" charset="0"/>
              </a:rPr>
              <a:t>Introduce structured bonus and reward systems to motivate employees.</a:t>
            </a:r>
          </a:p>
          <a:p>
            <a:r>
              <a:rPr lang="en-US" sz="1600" b="1" dirty="0">
                <a:latin typeface="Times New Roman" panose="02020603050405020304" pitchFamily="18" charset="0"/>
                <a:cs typeface="Times New Roman" panose="02020603050405020304" pitchFamily="18" charset="0"/>
              </a:rPr>
              <a:t>Monitor Leave Trends: </a:t>
            </a:r>
            <a:r>
              <a:rPr lang="en-US" sz="1600" dirty="0">
                <a:latin typeface="Times New Roman" panose="02020603050405020304" pitchFamily="18" charset="0"/>
                <a:cs typeface="Times New Roman" panose="02020603050405020304" pitchFamily="18" charset="0"/>
              </a:rPr>
              <a:t>Analyze employee leave patterns to identify potential productivity issues and improve leave management.</a:t>
            </a:r>
          </a:p>
          <a:p>
            <a:r>
              <a:rPr lang="en-US" sz="1600" b="1" dirty="0">
                <a:latin typeface="Times New Roman" panose="02020603050405020304" pitchFamily="18" charset="0"/>
                <a:cs typeface="Times New Roman" panose="02020603050405020304" pitchFamily="18" charset="0"/>
              </a:rPr>
              <a:t>Promote Skill Development: </a:t>
            </a:r>
            <a:r>
              <a:rPr lang="en-US" sz="1600" dirty="0">
                <a:latin typeface="Times New Roman" panose="02020603050405020304" pitchFamily="18" charset="0"/>
                <a:cs typeface="Times New Roman" panose="02020603050405020304" pitchFamily="18" charset="0"/>
              </a:rPr>
              <a:t>Encourage employee training and professional development to enhance workforce capabilities.</a:t>
            </a:r>
          </a:p>
          <a:p>
            <a:r>
              <a:rPr lang="en-US" sz="1600" b="1" dirty="0">
                <a:latin typeface="Times New Roman" panose="02020603050405020304" pitchFamily="18" charset="0"/>
                <a:cs typeface="Times New Roman" panose="02020603050405020304" pitchFamily="18" charset="0"/>
              </a:rPr>
              <a:t>Improve Payroll Monitoring: </a:t>
            </a:r>
            <a:r>
              <a:rPr lang="en-US" sz="1600" dirty="0">
                <a:latin typeface="Times New Roman" panose="02020603050405020304" pitchFamily="18" charset="0"/>
                <a:cs typeface="Times New Roman" panose="02020603050405020304" pitchFamily="18" charset="0"/>
              </a:rPr>
              <a:t>Utilize automated payroll systems for better tracking of salary expenses and financial planning.</a:t>
            </a:r>
          </a:p>
        </p:txBody>
      </p:sp>
    </p:spTree>
    <p:extLst>
      <p:ext uri="{BB962C8B-B14F-4D97-AF65-F5344CB8AC3E}">
        <p14:creationId xmlns:p14="http://schemas.microsoft.com/office/powerpoint/2010/main" val="164742918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 People Business PowerPoint Background Download | CBEditz">
            <a:extLst>
              <a:ext uri="{FF2B5EF4-FFF2-40B4-BE49-F238E27FC236}">
                <a16:creationId xmlns:a16="http://schemas.microsoft.com/office/drawing/2014/main" id="{D6F68CFF-5A9E-4116-BE99-B19E416B54B7}"/>
              </a:ext>
            </a:extLst>
          </p:cNvPr>
          <p:cNvPicPr>
            <a:picLocks noChangeAspect="1" noChangeArrowheads="1"/>
          </p:cNvPicPr>
          <p:nvPr/>
        </p:nvPicPr>
        <p:blipFill>
          <a:blip r:embed="rId2">
            <a:alphaModFix amt="22000"/>
            <a:extLst>
              <a:ext uri="{28A0092B-C50C-407E-A947-70E740481C1C}">
                <a14:useLocalDpi xmlns:a14="http://schemas.microsoft.com/office/drawing/2010/main" val="0"/>
              </a:ext>
            </a:extLst>
          </a:blip>
          <a:srcRect/>
          <a:stretch>
            <a:fillRect/>
          </a:stretch>
        </p:blipFill>
        <p:spPr bwMode="auto">
          <a:xfrm>
            <a:off x="0" y="1"/>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42EF923A-5904-4EB3-AC9C-5E7E90B286E1}"/>
              </a:ext>
            </a:extLst>
          </p:cNvPr>
          <p:cNvSpPr>
            <a:spLocks noGrp="1"/>
          </p:cNvSpPr>
          <p:nvPr>
            <p:ph type="title"/>
          </p:nvPr>
        </p:nvSpPr>
        <p:spPr>
          <a:xfrm>
            <a:off x="207204" y="0"/>
            <a:ext cx="10515600" cy="1325563"/>
          </a:xfrm>
        </p:spPr>
        <p:txBody>
          <a:bodyPr/>
          <a:lstStyle/>
          <a:p>
            <a:r>
              <a:rPr lang="en-US" b="1" dirty="0">
                <a:solidFill>
                  <a:srgbClr val="FF0000"/>
                </a:solidFill>
                <a:latin typeface="Times New Roman" panose="02020603050405020304" pitchFamily="18" charset="0"/>
                <a:cs typeface="Times New Roman" panose="02020603050405020304" pitchFamily="18" charset="0"/>
              </a:rPr>
              <a:t>CONCLUSION</a:t>
            </a:r>
          </a:p>
        </p:txBody>
      </p:sp>
      <p:sp>
        <p:nvSpPr>
          <p:cNvPr id="3" name="Text Placeholder 2">
            <a:extLst>
              <a:ext uri="{FF2B5EF4-FFF2-40B4-BE49-F238E27FC236}">
                <a16:creationId xmlns:a16="http://schemas.microsoft.com/office/drawing/2014/main" id="{FBC899FA-ED2D-418E-907D-5457A23855F7}"/>
              </a:ext>
            </a:extLst>
          </p:cNvPr>
          <p:cNvSpPr>
            <a:spLocks noGrp="1"/>
          </p:cNvSpPr>
          <p:nvPr>
            <p:ph type="body" idx="1"/>
          </p:nvPr>
        </p:nvSpPr>
        <p:spPr>
          <a:xfrm>
            <a:off x="2074479" y="1325563"/>
            <a:ext cx="8043041" cy="5138299"/>
          </a:xfrm>
        </p:spPr>
        <p:txBody>
          <a:bodyPr>
            <a:noAutofit/>
          </a:bodyPr>
          <a:lstStyle/>
          <a:p>
            <a:r>
              <a:rPr lang="en-US" sz="1600" dirty="0">
                <a:latin typeface="Times New Roman" panose="02020603050405020304" pitchFamily="18" charset="0"/>
                <a:cs typeface="Times New Roman" panose="02020603050405020304" pitchFamily="18" charset="0"/>
              </a:rPr>
              <a:t>The Employee Management System analysis provides a comprehensive view of workforce structure, salary distribution, qualifications, and payroll management within the organization.</a:t>
            </a:r>
          </a:p>
          <a:p>
            <a:r>
              <a:rPr lang="en-US" sz="1600" dirty="0">
                <a:latin typeface="Times New Roman" panose="02020603050405020304" pitchFamily="18" charset="0"/>
                <a:cs typeface="Times New Roman" panose="02020603050405020304" pitchFamily="18" charset="0"/>
              </a:rPr>
              <a:t>The analysis highlights department-wise employee distribution, salary allocation, leave patterns, and bonus structures, helping identify key workforce and financial trends.</a:t>
            </a:r>
          </a:p>
          <a:p>
            <a:r>
              <a:rPr lang="en-US" sz="1600" dirty="0">
                <a:latin typeface="Times New Roman" panose="02020603050405020304" pitchFamily="18" charset="0"/>
                <a:cs typeface="Times New Roman" panose="02020603050405020304" pitchFamily="18" charset="0"/>
              </a:rPr>
              <a:t>Insights from the data support better decision-making in HR management, payroll planning, and employee performance evaluation.</a:t>
            </a:r>
          </a:p>
          <a:p>
            <a:r>
              <a:rPr lang="en-US" sz="1600" dirty="0">
                <a:latin typeface="Times New Roman" panose="02020603050405020304" pitchFamily="18" charset="0"/>
                <a:cs typeface="Times New Roman" panose="02020603050405020304" pitchFamily="18" charset="0"/>
              </a:rPr>
              <a:t>Overall, this analysis demonstrates how SQL can be effectively used to manage and analyze employee data to support organizational efficiency and strategic planning.</a:t>
            </a:r>
          </a:p>
        </p:txBody>
      </p:sp>
    </p:spTree>
    <p:extLst>
      <p:ext uri="{BB962C8B-B14F-4D97-AF65-F5344CB8AC3E}">
        <p14:creationId xmlns:p14="http://schemas.microsoft.com/office/powerpoint/2010/main" val="124991643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lt1">
            <a:alpha val="89000"/>
          </a:schemeClr>
        </a:solidFill>
        <a:effectLst/>
      </p:bgPr>
    </p:bg>
    <p:spTree>
      <p:nvGrpSpPr>
        <p:cNvPr id="1" name="Shape 115"/>
        <p:cNvGrpSpPr/>
        <p:nvPr/>
      </p:nvGrpSpPr>
      <p:grpSpPr>
        <a:xfrm>
          <a:off x="0" y="0"/>
          <a:ext cx="0" cy="0"/>
          <a:chOff x="0" y="0"/>
          <a:chExt cx="0" cy="0"/>
        </a:xfrm>
      </p:grpSpPr>
      <p:pic>
        <p:nvPicPr>
          <p:cNvPr id="116" name="Google Shape;116;p5"/>
          <p:cNvPicPr preferRelativeResize="0"/>
          <p:nvPr/>
        </p:nvPicPr>
        <p:blipFill rotWithShape="1">
          <a:blip r:embed="rId3">
            <a:alphaModFix/>
          </a:blip>
          <a:srcRect/>
          <a:stretch/>
        </p:blipFill>
        <p:spPr>
          <a:xfrm>
            <a:off x="3557729" y="1792573"/>
            <a:ext cx="5076541" cy="3394953"/>
          </a:xfrm>
          <a:prstGeom prst="rect">
            <a:avLst/>
          </a:prstGeom>
          <a:noFill/>
          <a:ln>
            <a:noFill/>
          </a:ln>
        </p:spPr>
      </p:pic>
      <p:pic>
        <p:nvPicPr>
          <p:cNvPr id="4" name="Picture 3">
            <a:extLst>
              <a:ext uri="{FF2B5EF4-FFF2-40B4-BE49-F238E27FC236}">
                <a16:creationId xmlns:a16="http://schemas.microsoft.com/office/drawing/2014/main" id="{EC60027C-06F3-4A71-8197-8854CE2EA770}"/>
              </a:ext>
            </a:extLst>
          </p:cNvPr>
          <p:cNvPicPr>
            <a:picLocks noChangeAspect="1"/>
          </p:cNvPicPr>
          <p:nvPr/>
        </p:nvPicPr>
        <p:blipFill>
          <a:blip r:embed="rId4">
            <a:alphaModFix amt="84000"/>
          </a:blip>
          <a:stretch>
            <a:fillRect/>
          </a:stretch>
        </p:blipFill>
        <p:spPr>
          <a:xfrm>
            <a:off x="2508153" y="1326315"/>
            <a:ext cx="6694637" cy="4010314"/>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194</TotalTime>
  <Words>1805</Words>
  <Application>Microsoft Office PowerPoint</Application>
  <PresentationFormat>Widescreen</PresentationFormat>
  <Paragraphs>184</Paragraphs>
  <Slides>24</Slides>
  <Notes>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24</vt:i4>
      </vt:variant>
    </vt:vector>
  </HeadingPairs>
  <TitlesOfParts>
    <vt:vector size="28" baseType="lpstr">
      <vt:lpstr>Calibri</vt:lpstr>
      <vt:lpstr>Arial</vt:lpstr>
      <vt:lpstr>Times New Roman</vt:lpstr>
      <vt:lpstr>Office Theme</vt:lpstr>
      <vt:lpstr>PowerPoint Presentation</vt:lpstr>
      <vt:lpstr>INTRODCUTION</vt:lpstr>
      <vt:lpstr>PROBLEM STATEMENT</vt:lpstr>
      <vt:lpstr>OBJECTIVE</vt:lpstr>
      <vt:lpstr>TABLES</vt:lpstr>
      <vt:lpstr>TABLES STRUCTURES</vt:lpstr>
      <vt:lpstr>TABLES STRUCTURES</vt:lpstr>
      <vt:lpstr>ER DIAGRAM</vt:lpstr>
      <vt:lpstr>ANALYSIS</vt:lpstr>
      <vt:lpstr>ANALYSIS</vt:lpstr>
      <vt:lpstr>ANALYSIS</vt:lpstr>
      <vt:lpstr>ANALYSIS</vt:lpstr>
      <vt:lpstr>ANALYSIS</vt:lpstr>
      <vt:lpstr>ANALYSIS</vt:lpstr>
      <vt:lpstr>ANALYSIS</vt:lpstr>
      <vt:lpstr>ANALYSIS</vt:lpstr>
      <vt:lpstr>ANALYSIS</vt:lpstr>
      <vt:lpstr>ANALYSIS</vt:lpstr>
      <vt:lpstr>ANALYSIS</vt:lpstr>
      <vt:lpstr>ANALYSIS</vt:lpstr>
      <vt:lpstr>KEY INSIGHTS</vt:lpstr>
      <vt:lpstr>RECOMMENDATIONS</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Raghu Ram Aduri</dc:creator>
  <cp:lastModifiedBy>sarugu akshay</cp:lastModifiedBy>
  <cp:revision>21</cp:revision>
  <dcterms:created xsi:type="dcterms:W3CDTF">2021-02-16T05:19:01Z</dcterms:created>
  <dcterms:modified xsi:type="dcterms:W3CDTF">2026-03-07T11:26:47Z</dcterms:modified>
</cp:coreProperties>
</file>